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Data Collection and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module focuses on how data is collected, evaluated, and prepared for analysis.</a:t>
            </a:r>
          </a:p>
          <a:p>
            <a:pPr/>
            <a:r>
              <a:t>High-quality analytics depends on high-quality data.</a:t>
            </a:r>
          </a:p>
          <a:p>
            <a:pPr/>
            <a:r>
              <a:t>Early decisions about data shape the credibility of conclusions.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Quality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Poor data quality leads to unreliable results.</a:t>
            </a:r>
          </a:p>
          <a:p>
            <a:pPr/>
            <a:r>
              <a:t>Even advanced models cannot fix fundamentally flawed data.</a:t>
            </a:r>
          </a:p>
          <a:p>
            <a:pPr/>
            <a:r>
              <a:t>Understanding data quality is essential for responsible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Depends on Data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Analytical conclusions reflect the strengths and weaknesses of the data.</a:t>
            </a:r>
          </a:p>
          <a:p>
            <a:pPr/>
            <a:r>
              <a:t>Errors introduced early can propagate through analysis.</a:t>
            </a:r>
          </a:p>
          <a:p>
            <a:pPr/>
            <a:r>
              <a:t>Analysts must evaluate data before trusting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as a Design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is not neutral or automatic.</a:t>
            </a:r>
          </a:p>
          <a:p>
            <a:pPr/>
            <a:r>
              <a:t>Collection methods reflect assumptions and priorities.</a:t>
            </a:r>
          </a:p>
          <a:p>
            <a:pPr/>
            <a:r>
              <a:t>Design choices affect bias, accuracy, and relevance.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Analyst in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Analysts are responsible for assessing data fitness.</a:t>
            </a:r>
          </a:p>
          <a:p>
            <a:pPr/>
            <a:r>
              <a:t>They must identify limitations and risks.</a:t>
            </a:r>
          </a:p>
          <a:p>
            <a:pPr/>
            <a:r>
              <a:t>Ethical data stewardship is part of analytics practice.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Themes of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Where data comes from.</a:t>
            </a:r>
          </a:p>
          <a:p>
            <a:pPr/>
            <a:r>
              <a:t>How quality is defined and measured.</a:t>
            </a:r>
          </a:p>
          <a:p>
            <a:pPr/>
            <a:r>
              <a:t>How data problems are identified and addressed.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to Module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Module 1 introduced analytics concepts.</a:t>
            </a:r>
          </a:p>
          <a:p>
            <a:pPr/>
            <a:r>
              <a:t>Module 2 focuses on preparing data for analysis.</a:t>
            </a:r>
          </a:p>
          <a:p>
            <a:pPr/>
            <a:r>
              <a:t>Strong foundations enable credible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Identify data sources and collection methods.</a:t>
            </a:r>
          </a:p>
          <a:p>
            <a:pPr/>
            <a:r>
              <a:t>Explain dimensions of data quality.</a:t>
            </a:r>
          </a:p>
          <a:p>
            <a:pPr/>
            <a:r>
              <a:t>Recognize common data quality problems.</a:t>
            </a:r>
          </a:p>
          <a:p>
            <a:pPr/>
            <a:r>
              <a:t>Understand data cleaning and governance practices.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 data is collected directly for a specific analytical purpose.</a:t>
            </a:r>
          </a:p>
          <a:p>
            <a:pPr/>
            <a:r>
              <a:t>The analyst controls how and why data is collected.</a:t>
            </a:r>
          </a:p>
          <a:p>
            <a:pPr/>
            <a:r>
              <a:t>Examples include surveys and experiments.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Primary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relevance to research questions.</a:t>
            </a:r>
          </a:p>
          <a:p>
            <a:pPr/>
            <a:r>
              <a:t>Greater control over measurement.</a:t>
            </a:r>
          </a:p>
          <a:p>
            <a:pPr/>
            <a:r>
              <a:t>Clear understanding of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Primary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Often costly and time-consuming.</a:t>
            </a:r>
          </a:p>
          <a:p>
            <a:pPr/>
            <a:r>
              <a:t>May have limited scope.</a:t>
            </a:r>
          </a:p>
          <a:p>
            <a:pPr/>
            <a:r>
              <a:t>Requires careful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Secondary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Secondary data already exists and is reused.</a:t>
            </a:r>
          </a:p>
          <a:p>
            <a:pPr/>
            <a:r>
              <a:t>Examples include administrative records and public datasets.</a:t>
            </a:r>
          </a:p>
          <a:p>
            <a:pPr/>
            <a:r>
              <a:t>Often collected for different purposes.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Secondary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Lower cost.</a:t>
            </a:r>
          </a:p>
          <a:p>
            <a:pPr/>
            <a:r>
              <a:t>Large sample sizes.</a:t>
            </a:r>
          </a:p>
          <a:p>
            <a:pPr/>
            <a:r>
              <a:t>Historical depth.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Secondary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Unknown collection methods.</a:t>
            </a:r>
          </a:p>
          <a:p>
            <a:pPr/>
            <a:r>
              <a:t>Measurement mismatch.</a:t>
            </a:r>
          </a:p>
          <a:p>
            <a:pPr/>
            <a:r>
              <a:t>Contextual misalignment.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Organizational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Generated from within an organization.</a:t>
            </a:r>
          </a:p>
          <a:p>
            <a:pPr/>
            <a:r>
              <a:t>Includes transactions and operations.</a:t>
            </a:r>
          </a:p>
          <a:p>
            <a:pPr/>
            <a:r>
              <a:t>Reflects internal processes.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Obtained from outside organizations.</a:t>
            </a:r>
          </a:p>
          <a:p>
            <a:pPr/>
            <a:r>
              <a:t>Includes demographic or economic data.</a:t>
            </a:r>
          </a:p>
          <a:p>
            <a:pPr/>
            <a:r>
              <a:t>Adds contextual richness.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Internal and External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Integration can improve insight.</a:t>
            </a:r>
          </a:p>
          <a:p>
            <a:pPr/>
            <a:r>
              <a:t>Definitions may differ.</a:t>
            </a:r>
          </a:p>
          <a:p>
            <a:pPr/>
            <a:r>
              <a:t>Comparability must be evaluated.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Provenance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Understanding where data came from is essential.</a:t>
            </a:r>
          </a:p>
          <a:p>
            <a:pPr/>
            <a:r>
              <a:t>Provenance affects trust.</a:t>
            </a:r>
          </a:p>
          <a:p>
            <a:pPr/>
            <a:r>
              <a:t>Context guides interpretation.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is primary data preferable?</a:t>
            </a:r>
          </a:p>
          <a:p>
            <a:pPr/>
            <a:r>
              <a:t>What risks come with secondary data?</a:t>
            </a:r>
          </a:p>
          <a:p>
            <a:pPr/>
            <a:r>
              <a:t>Why does provenance matter?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Census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Widely used secondary data source.</a:t>
            </a:r>
          </a:p>
          <a:p>
            <a:pPr/>
            <a:r>
              <a:t>Collected for governmental purposes.</a:t>
            </a:r>
          </a:p>
          <a:p>
            <a:pPr/>
            <a:r>
              <a:t>Requires careful interpretation.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Quantitative methods produce numerical data.</a:t>
            </a:r>
          </a:p>
          <a:p>
            <a:pPr/>
            <a:r>
              <a:t>Designed for measurement and comparison.</a:t>
            </a:r>
          </a:p>
          <a:p>
            <a:pPr/>
            <a:r>
              <a:t>Supports statistical analysis.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Structured questionnaires.</a:t>
            </a:r>
          </a:p>
          <a:p>
            <a:pPr/>
            <a:r>
              <a:t>Depend on sampling design.</a:t>
            </a:r>
          </a:p>
          <a:p>
            <a:pPr/>
            <a:r>
              <a:t>Question wording affects quality.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Manipulate conditions deliberately.</a:t>
            </a:r>
          </a:p>
          <a:p>
            <a:pPr/>
            <a:r>
              <a:t>Support causal inference.</a:t>
            </a:r>
          </a:p>
          <a:p>
            <a:pPr/>
            <a:r>
              <a:t>Often used in controlled settings.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Observational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Observe real-world behavior.</a:t>
            </a:r>
          </a:p>
          <a:p>
            <a:pPr/>
            <a:r>
              <a:t>No experimental control.</a:t>
            </a:r>
          </a:p>
          <a:p>
            <a:pPr/>
            <a:r>
              <a:t>Risk of confounding factors.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Sensors and system logs.</a:t>
            </a:r>
          </a:p>
          <a:p>
            <a:pPr/>
            <a:r>
              <a:t>High volume and frequency.</a:t>
            </a:r>
          </a:p>
          <a:p>
            <a:pPr/>
            <a:r>
              <a:t>Susceptible to technical errors.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Produces non-numerical data.</a:t>
            </a:r>
          </a:p>
          <a:p>
            <a:pPr/>
            <a:r>
              <a:t>Captures depth and context.</a:t>
            </a:r>
          </a:p>
          <a:p>
            <a:pPr/>
            <a:r>
              <a:t>Complements quantitative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Structured or unstructured.</a:t>
            </a:r>
          </a:p>
          <a:p>
            <a:pPr/>
            <a:r>
              <a:t>Provide rich detail.</a:t>
            </a:r>
          </a:p>
          <a:p>
            <a:pPr/>
            <a:r>
              <a:t>Require careful interpretation.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Group-based discussion.</a:t>
            </a:r>
          </a:p>
          <a:p>
            <a:pPr/>
            <a:r>
              <a:t>Explores shared perspectives.</a:t>
            </a:r>
          </a:p>
          <a:p>
            <a:pPr/>
            <a:r>
              <a:t>Influenced by group dynamics.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and Text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written or digital records.</a:t>
            </a:r>
          </a:p>
          <a:p>
            <a:pPr/>
            <a:r>
              <a:t>Includes reports and social media.</a:t>
            </a:r>
          </a:p>
          <a:p>
            <a:pPr/>
            <a:r>
              <a:t>Requires coding and interpretation.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Combines quantitative and qualitative approaches.</a:t>
            </a:r>
          </a:p>
          <a:p>
            <a:pPr/>
            <a:r>
              <a:t>Addresses complex questions.</a:t>
            </a:r>
          </a:p>
          <a:p>
            <a:pPr/>
            <a:r>
              <a:t>Balances breadth and depth.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Collection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Driven by research goals.</a:t>
            </a:r>
          </a:p>
          <a:p>
            <a:pPr/>
            <a:r>
              <a:t>Constraints include cost and time.</a:t>
            </a:r>
          </a:p>
          <a:p>
            <a:pPr/>
            <a:r>
              <a:t>Trade-offs are unavoidable.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Collection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is qualitative data valuable?</a:t>
            </a:r>
          </a:p>
          <a:p>
            <a:pPr/>
            <a:r>
              <a:t>What are strengths of experiments?</a:t>
            </a:r>
          </a:p>
          <a:p>
            <a:pPr/>
            <a:r>
              <a:t>Why use mixed methods?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quality refers to fitness for analytical use.</a:t>
            </a:r>
          </a:p>
          <a:p>
            <a:pPr/>
            <a:r>
              <a:t>High-quality data supports valid inference.</a:t>
            </a:r>
          </a:p>
          <a:p>
            <a:pPr/>
            <a:r>
              <a:t>Quality is multidimensional.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Closeness to true values.</a:t>
            </a:r>
          </a:p>
          <a:p>
            <a:pPr/>
            <a:r>
              <a:t>Errors reduce reliability.</a:t>
            </a:r>
          </a:p>
          <a:p>
            <a:pPr/>
            <a:r>
              <a:t>Measurement matters.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Presence of required records.</a:t>
            </a:r>
          </a:p>
          <a:p>
            <a:pPr/>
            <a:r>
              <a:t>Missing values reduce power.</a:t>
            </a:r>
          </a:p>
          <a:p>
            <a:pPr/>
            <a:r>
              <a:t>Systematic gaps are dangerous.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Uniform formats and coding.</a:t>
            </a:r>
          </a:p>
          <a:p>
            <a:pPr/>
            <a:r>
              <a:t>Logical coherence across fields.</a:t>
            </a:r>
          </a:p>
          <a:p>
            <a:pPr/>
            <a:r>
              <a:t>Inconsistencies signal problems.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must be current enough.</a:t>
            </a:r>
          </a:p>
          <a:p>
            <a:pPr/>
            <a:r>
              <a:t>Outdated data misleads decisions.</a:t>
            </a:r>
          </a:p>
          <a:p>
            <a:pPr/>
            <a:r>
              <a:t>Time relevance matters.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Measures what it claims to measure.</a:t>
            </a:r>
          </a:p>
          <a:p>
            <a:pPr/>
            <a:r>
              <a:t>Conceptual alignment is essential.</a:t>
            </a:r>
          </a:p>
          <a:p>
            <a:pPr/>
            <a:r>
              <a:t>Validity goes beyond correctness.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must match analytic goals.</a:t>
            </a:r>
          </a:p>
          <a:p>
            <a:pPr/>
            <a:r>
              <a:t>More data is not always better.</a:t>
            </a:r>
          </a:p>
          <a:p>
            <a:pPr/>
            <a:r>
              <a:t>Irrelevant data adds noise.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Trade-offs Among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Improving one dimension may hurt another.</a:t>
            </a:r>
          </a:p>
          <a:p>
            <a:pPr/>
            <a:r>
              <a:t>Perfect quality is rare.</a:t>
            </a:r>
          </a:p>
          <a:p>
            <a:pPr/>
            <a:r>
              <a:t>Judgment is required.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Assessing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Requires both technical checks.</a:t>
            </a:r>
          </a:p>
          <a:p>
            <a:pPr/>
            <a:r>
              <a:t>And substantive understanding.</a:t>
            </a:r>
          </a:p>
          <a:p>
            <a:pPr/>
            <a:r>
              <a:t>Documentation supports assessment.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in Real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Most real data is imperfect.</a:t>
            </a:r>
          </a:p>
          <a:p>
            <a:pPr/>
            <a:r>
              <a:t>Quality evaluation is ongoing.</a:t>
            </a:r>
          </a:p>
          <a:p>
            <a:pPr/>
            <a:r>
              <a:t>Awareness improves outcomes.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is validity critical?</a:t>
            </a:r>
          </a:p>
          <a:p>
            <a:pPr/>
            <a:r>
              <a:t>Can data be accurate but irrelevant?</a:t>
            </a:r>
          </a:p>
          <a:p>
            <a:pPr/>
            <a:r>
              <a:t>Why is completeness important?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Example: Healthcare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Missing records bias outcomes.</a:t>
            </a:r>
          </a:p>
          <a:p>
            <a:pPr/>
            <a:r>
              <a:t>Timeliness affects treatment.</a:t>
            </a:r>
          </a:p>
          <a:p>
            <a:pPr/>
            <a:r>
              <a:t>Accuracy impacts safety.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Example: Business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Duplicate customers distort metrics.</a:t>
            </a:r>
          </a:p>
          <a:p>
            <a:pPr/>
            <a:r>
              <a:t>Inconsistent units mislead.</a:t>
            </a:r>
          </a:p>
          <a:p>
            <a:pPr/>
            <a:r>
              <a:t>Quality affects profit decisions.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Is Contextual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universal standard exists.</a:t>
            </a:r>
          </a:p>
          <a:p>
            <a:pPr/>
            <a:r>
              <a:t>Quality depends on use case.</a:t>
            </a:r>
          </a:p>
          <a:p>
            <a:pPr/>
            <a:r>
              <a:t>Fitness for purpose is key.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Data Quality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Quality is multidimensional.</a:t>
            </a:r>
          </a:p>
          <a:p>
            <a:pPr/>
            <a:r>
              <a:t>All dimensions interact.</a:t>
            </a:r>
          </a:p>
          <a:p>
            <a:pPr/>
            <a:r>
              <a:t>Analysts must evaluate holistically.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Data Quality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Missing values.</a:t>
            </a:r>
          </a:p>
          <a:p>
            <a:pPr/>
            <a:r>
              <a:t>Duplicates.</a:t>
            </a:r>
          </a:p>
          <a:p>
            <a:pPr/>
            <a:r>
              <a:t>Out-of-range values.</a:t>
            </a:r>
          </a:p>
          <a:p>
            <a:pPr/>
            <a:r>
              <a:t>Inconsistent coding.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Data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entry.</a:t>
            </a:r>
          </a:p>
          <a:p>
            <a:pPr/>
            <a:r>
              <a:t>System integration.</a:t>
            </a:r>
          </a:p>
          <a:p>
            <a:pPr/>
            <a:r>
              <a:t>Poor design.</a:t>
            </a:r>
          </a:p>
          <a:p>
            <a:pPr/>
            <a:r>
              <a:t>Sensor failures.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Data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Missing completely at random.</a:t>
            </a:r>
          </a:p>
          <a:p>
            <a:pPr/>
            <a:r>
              <a:t>Missing at random.</a:t>
            </a:r>
          </a:p>
          <a:p>
            <a:pPr/>
            <a:r>
              <a:t>Not missing at random.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Missingness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Affects bias.</a:t>
            </a:r>
          </a:p>
          <a:p>
            <a:pPr/>
            <a:r>
              <a:t>Influences method choice.</a:t>
            </a:r>
          </a:p>
          <a:p>
            <a:pPr/>
            <a:r>
              <a:t>Deletion is not always safe.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Consistent formats.</a:t>
            </a:r>
          </a:p>
          <a:p>
            <a:pPr/>
            <a:r>
              <a:t>Unit conversion.</a:t>
            </a:r>
          </a:p>
          <a:p>
            <a:pPr/>
            <a:r>
              <a:t>Naming conventions.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Error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Range checks.</a:t>
            </a:r>
          </a:p>
          <a:p>
            <a:pPr/>
            <a:r>
              <a:t>Logical constraints.</a:t>
            </a:r>
          </a:p>
          <a:p>
            <a:pPr/>
            <a:r>
              <a:t>Automated rules.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Inflate counts.</a:t>
            </a:r>
          </a:p>
          <a:p>
            <a:pPr/>
            <a:r>
              <a:t>Distort rates.</a:t>
            </a:r>
          </a:p>
          <a:p>
            <a:pPr/>
            <a:r>
              <a:t>Require resolution strategies.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definitions.</a:t>
            </a:r>
          </a:p>
          <a:p>
            <a:pPr/>
            <a:r>
              <a:t>Different time scales.</a:t>
            </a:r>
          </a:p>
          <a:p>
            <a:pPr/>
            <a:r>
              <a:t>Different granularity.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Describes data meaning.</a:t>
            </a:r>
          </a:p>
          <a:p>
            <a:pPr/>
            <a:r>
              <a:t>Supports reuse.</a:t>
            </a:r>
          </a:p>
          <a:p>
            <a:pPr/>
            <a:r>
              <a:t>Improves transparency.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Explain transformations.</a:t>
            </a:r>
          </a:p>
          <a:p>
            <a:pPr/>
            <a:r>
              <a:t>Record assumptions.</a:t>
            </a:r>
          </a:p>
          <a:p>
            <a:pPr/>
            <a:r>
              <a:t>Enable reproducibility.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Policies for data management.</a:t>
            </a:r>
          </a:p>
          <a:p>
            <a:pPr/>
            <a:r>
              <a:t>Defines roles and responsibility.</a:t>
            </a:r>
          </a:p>
          <a:p>
            <a:pPr/>
            <a:r>
              <a:t>Supports trust.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Stewardship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Ongoing care of data assets.</a:t>
            </a:r>
          </a:p>
          <a:p>
            <a:pPr/>
            <a:r>
              <a:t>Quality, security, ethics.</a:t>
            </a:r>
          </a:p>
          <a:p>
            <a:pPr/>
            <a:r>
              <a:t>Shared responsibility.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Privacy and consent.</a:t>
            </a:r>
          </a:p>
          <a:p>
            <a:pPr/>
            <a:r>
              <a:t>Fairness and bias.</a:t>
            </a:r>
          </a:p>
          <a:p>
            <a:pPr/>
            <a:r>
              <a:t>Social impact.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protection laws.</a:t>
            </a:r>
          </a:p>
          <a:p>
            <a:pPr/>
            <a:r>
              <a:t>Institutional policies.</a:t>
            </a:r>
          </a:p>
          <a:p>
            <a:pPr/>
            <a:r>
              <a:t>Compliance is mandatory.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quality underpins analytics.</a:t>
            </a:r>
          </a:p>
          <a:p>
            <a:pPr/>
            <a:r>
              <a:t>Collection choices matter.</a:t>
            </a:r>
          </a:p>
          <a:p>
            <a:pPr/>
            <a:r>
              <a:t>Cleaning and governance are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