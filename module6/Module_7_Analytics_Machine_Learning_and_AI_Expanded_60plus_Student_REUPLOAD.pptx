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7: Analytics, Machine Learning &amp;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module connects classical analytics to machine learning and artificial intelligence.</a:t>
            </a:r>
          </a:p>
          <a:p>
            <a:pPr/>
            <a:r>
              <a:t>It clarifies how these fields overlap and differ.</a:t>
            </a:r>
          </a:p>
          <a:p>
            <a:pPr/>
            <a:r>
              <a:t>Students learn where analytics ends and AI begins.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Connection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Modern analytics increasingly uses ML and AI tools.</a:t>
            </a:r>
          </a:p>
          <a:p>
            <a:pPr/>
            <a:r>
              <a:t>Misunderstanding leads to misuse and overconfidence.</a:t>
            </a:r>
          </a:p>
          <a:p>
            <a:pPr/>
            <a:r>
              <a:t>Clear foundations enable responsible adoption.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Analytics, ML, and AI are often used interchangeably.</a:t>
            </a:r>
          </a:p>
          <a:p>
            <a:pPr/>
            <a:r>
              <a:t>They are related but not identical.</a:t>
            </a:r>
          </a:p>
          <a:p>
            <a:pPr/>
            <a:r>
              <a:t>This module establishes precise distinctions.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as the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emphasizes reasoning with data.</a:t>
            </a:r>
          </a:p>
          <a:p>
            <a:pPr/>
            <a:r>
              <a:t>ML and AI build on analytics principles.</a:t>
            </a:r>
          </a:p>
          <a:p>
            <a:pPr/>
            <a:r>
              <a:t>Without analytics, ML is unreliable.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Statistics preceded machine learning.</a:t>
            </a:r>
          </a:p>
          <a:p>
            <a:pPr/>
            <a:r>
              <a:t>Machine learning expanded predictive power.</a:t>
            </a:r>
          </a:p>
          <a:p>
            <a:pPr/>
            <a:r>
              <a:t>AI integrates learning with decision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in the Analytics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structures data and questions.</a:t>
            </a:r>
          </a:p>
          <a:p>
            <a:pPr/>
            <a:r>
              <a:t>ML enhances prediction.</a:t>
            </a:r>
          </a:p>
          <a:p>
            <a:pPr/>
            <a:r>
              <a:t>AI operationalizes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Questions of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distinguishes ML from analytics?</a:t>
            </a:r>
          </a:p>
          <a:p>
            <a:pPr/>
            <a:r>
              <a:t>When should AI be used?</a:t>
            </a:r>
          </a:p>
          <a:p>
            <a:pPr/>
            <a:r>
              <a:t>What risks accompany automation?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Differentiate analytics, ML, and AI.</a:t>
            </a:r>
          </a:p>
          <a:p>
            <a:pPr/>
            <a:r>
              <a:t>Understand core ML concepts.</a:t>
            </a:r>
          </a:p>
          <a:p>
            <a:pPr/>
            <a:r>
              <a:t>Recognize AI system components.</a:t>
            </a:r>
          </a:p>
          <a:p>
            <a:pPr/>
            <a:r>
              <a:t>Evaluate ethical and practical risks.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Machine learning is a subset of AI.</a:t>
            </a:r>
          </a:p>
          <a:p>
            <a:pPr/>
            <a:r>
              <a:t>It focuses on learning patterns from data.</a:t>
            </a:r>
          </a:p>
          <a:p>
            <a:pPr/>
            <a:r>
              <a:t>Models improve performance through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vs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emphasizes explanation.</a:t>
            </a:r>
          </a:p>
          <a:p>
            <a:pPr/>
            <a:r>
              <a:t>Machine learning emphasizes prediction.</a:t>
            </a:r>
          </a:p>
          <a:p>
            <a:pPr/>
            <a:r>
              <a:t>Goals influence methods.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in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Often theory-driven.</a:t>
            </a:r>
          </a:p>
          <a:p>
            <a:pPr/>
            <a:r>
              <a:t>Parameters have interpretive meaning.</a:t>
            </a:r>
          </a:p>
          <a:p>
            <a:pPr/>
            <a:r>
              <a:t>Inference is central.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Often data-driven.</a:t>
            </a:r>
          </a:p>
          <a:p>
            <a:pPr/>
            <a:r>
              <a:t>Focuses on accuracy.</a:t>
            </a:r>
          </a:p>
          <a:p>
            <a:pPr/>
            <a:r>
              <a:t>Interpretability may be secondary.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trained with labeled data.</a:t>
            </a:r>
          </a:p>
          <a:p>
            <a:pPr/>
            <a:r>
              <a:t>Common in prediction tasks.</a:t>
            </a:r>
          </a:p>
          <a:p>
            <a:pPr/>
            <a:r>
              <a:t>Builds on regression and classification.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labeled outcomes.</a:t>
            </a:r>
          </a:p>
          <a:p>
            <a:pPr/>
            <a:r>
              <a:t>Focus on structure discovery.</a:t>
            </a:r>
          </a:p>
          <a:p>
            <a:pPr/>
            <a:r>
              <a:t>Related to exploratory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Learning through interaction.</a:t>
            </a:r>
          </a:p>
          <a:p>
            <a:pPr/>
            <a:r>
              <a:t>Rewards guide behavior.</a:t>
            </a:r>
          </a:p>
          <a:p>
            <a:pPr/>
            <a:r>
              <a:t>Used in adaptive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Bias–Variance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ML models often reduce bias.</a:t>
            </a:r>
          </a:p>
          <a:p>
            <a:pPr/>
            <a:r>
              <a:t>But increase variance.</a:t>
            </a:r>
          </a:p>
          <a:p>
            <a:pPr/>
            <a:r>
              <a:t>Trade-off remains fundamental.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Training, Validation,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 ML workflow.</a:t>
            </a:r>
          </a:p>
          <a:p>
            <a:pPr/>
            <a:r>
              <a:t>Prevents overfitting.</a:t>
            </a:r>
          </a:p>
          <a:p>
            <a:pPr/>
            <a:r>
              <a:t>Generalization is the goal.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Transforms raw data into inputs.</a:t>
            </a:r>
          </a:p>
          <a:p>
            <a:pPr/>
            <a:r>
              <a:t>Analytics judgment is critical.</a:t>
            </a:r>
          </a:p>
          <a:p>
            <a:pPr/>
            <a:r>
              <a:t>Poor features undermine ML.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Accuracy, precision, recall.</a:t>
            </a:r>
          </a:p>
          <a:p>
            <a:pPr/>
            <a:r>
              <a:t>Different metrics suit different goals.</a:t>
            </a:r>
          </a:p>
          <a:p>
            <a:pPr/>
            <a:r>
              <a:t>Metric choice reflects values.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Analytics vs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is ML prediction-focused?</a:t>
            </a:r>
          </a:p>
          <a:p>
            <a:pPr/>
            <a:r>
              <a:t>How does ML depend on analytics?</a:t>
            </a:r>
          </a:p>
          <a:p>
            <a:pPr/>
            <a:r>
              <a:t>Why does interpretability matter?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Models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Regression as ML baseline.</a:t>
            </a:r>
          </a:p>
          <a:p>
            <a:pPr/>
            <a:r>
              <a:t>Strong interpretability.</a:t>
            </a:r>
          </a:p>
          <a:p>
            <a:pPr/>
            <a:r>
              <a:t>Often surprisingly effective.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Rule-based models.</a:t>
            </a:r>
          </a:p>
          <a:p>
            <a:pPr/>
            <a:r>
              <a:t>Easy to explain.</a:t>
            </a:r>
          </a:p>
          <a:p>
            <a:pPr/>
            <a:r>
              <a:t>High variance risk.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Ensemble of trees.</a:t>
            </a:r>
          </a:p>
          <a:p>
            <a:pPr/>
            <a:r>
              <a:t>Improved accuracy.</a:t>
            </a:r>
          </a:p>
          <a:p>
            <a:pPr/>
            <a:r>
              <a:t>Reduced overfitting.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Boosting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Sequential learning.</a:t>
            </a:r>
          </a:p>
          <a:p>
            <a:pPr/>
            <a:r>
              <a:t>Strong predictive performance.</a:t>
            </a:r>
          </a:p>
          <a:p>
            <a:pPr/>
            <a:r>
              <a:t>Sensitive to tuning.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Vector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Margin-based classification.</a:t>
            </a:r>
          </a:p>
          <a:p>
            <a:pPr/>
            <a:r>
              <a:t>Effective in high dimensions.</a:t>
            </a:r>
          </a:p>
          <a:p>
            <a:pPr/>
            <a:r>
              <a:t>Less interpretable.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k-Nearest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Instance-based learning.</a:t>
            </a:r>
          </a:p>
          <a:p>
            <a:pPr/>
            <a:r>
              <a:t>Simple concept.</a:t>
            </a:r>
          </a:p>
          <a:p>
            <a:pPr/>
            <a:r>
              <a:t>Computationally expensive.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Inspired by biological neurons.</a:t>
            </a:r>
          </a:p>
          <a:p>
            <a:pPr/>
            <a:r>
              <a:t>Highly flexible.</a:t>
            </a:r>
          </a:p>
          <a:p>
            <a:pPr/>
            <a:r>
              <a:t>Require large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Multiple hidden layers.</a:t>
            </a:r>
          </a:p>
          <a:p>
            <a:pPr/>
            <a:r>
              <a:t>Excels in images and text.</a:t>
            </a:r>
          </a:p>
          <a:p>
            <a:pPr/>
            <a:r>
              <a:t>High computational cost.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Complexity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More complexity increases risk.</a:t>
            </a:r>
          </a:p>
          <a:p>
            <a:pPr/>
            <a:r>
              <a:t>Regularization controls complexity.</a:t>
            </a:r>
          </a:p>
          <a:p>
            <a:pPr/>
            <a:r>
              <a:t>Validation is essential.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Parameters not learned directly.</a:t>
            </a:r>
          </a:p>
          <a:p>
            <a:pPr/>
            <a:r>
              <a:t>Affect performance strongly.</a:t>
            </a:r>
          </a:p>
          <a:p>
            <a:pPr/>
            <a:r>
              <a:t>Search strategies required.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Robust performance estimation.</a:t>
            </a:r>
          </a:p>
          <a:p>
            <a:pPr/>
            <a:r>
              <a:t>Reduces randomness.</a:t>
            </a:r>
          </a:p>
          <a:p>
            <a:pPr/>
            <a:r>
              <a:t>Standard ML practice.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Interpretability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Black-box models.</a:t>
            </a:r>
          </a:p>
          <a:p>
            <a:pPr/>
            <a:r>
              <a:t>Difficult explanations.</a:t>
            </a:r>
          </a:p>
          <a:p>
            <a:pPr/>
            <a:r>
              <a:t>Trust implications.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Techniques for transparency.</a:t>
            </a:r>
          </a:p>
          <a:p>
            <a:pPr/>
            <a:r>
              <a:t>Feature importance.</a:t>
            </a:r>
          </a:p>
          <a:p>
            <a:pPr/>
            <a:r>
              <a:t>Local explanations.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ML Models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drift.</a:t>
            </a:r>
          </a:p>
          <a:p>
            <a:pPr/>
            <a:r>
              <a:t>Hidden bias.</a:t>
            </a:r>
          </a:p>
          <a:p>
            <a:pPr/>
            <a:r>
              <a:t>Unstable environments.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ML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ensembles outperform trees?</a:t>
            </a:r>
          </a:p>
          <a:p>
            <a:pPr/>
            <a:r>
              <a:t>Why deep learning needs big data?</a:t>
            </a:r>
          </a:p>
          <a:p>
            <a:pPr/>
            <a:r>
              <a:t>Why explainability matters?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aims to create systems that exhibit intelligent behavior.</a:t>
            </a:r>
          </a:p>
          <a:p>
            <a:pPr/>
            <a:r>
              <a:t>Includes learning, reasoning, and acting.</a:t>
            </a:r>
          </a:p>
          <a:p>
            <a:pPr/>
            <a:r>
              <a:t>ML is a subset of AI.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Data.</a:t>
            </a:r>
          </a:p>
          <a:p>
            <a:pPr/>
            <a:r>
              <a:t>Models.</a:t>
            </a:r>
          </a:p>
          <a:p>
            <a:pPr/>
            <a:r>
              <a:t>Decision logic.</a:t>
            </a:r>
          </a:p>
          <a:p>
            <a:pPr/>
            <a:r>
              <a:t>Action mechanisms.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Rule-Based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Explicit if-then rules.</a:t>
            </a:r>
          </a:p>
          <a:p>
            <a:pPr/>
            <a:r>
              <a:t>Early AI approach.</a:t>
            </a:r>
          </a:p>
          <a:p>
            <a:pPr/>
            <a:r>
              <a:t>Limited flexibility.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Learning-Based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Uses ML models.</a:t>
            </a:r>
          </a:p>
          <a:p>
            <a:pPr/>
            <a:r>
              <a:t>Adapts from data.</a:t>
            </a:r>
          </a:p>
          <a:p>
            <a:pPr/>
            <a:r>
              <a:t>More scalable.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Automation follows fixed rules.</a:t>
            </a:r>
          </a:p>
          <a:p>
            <a:pPr/>
            <a:r>
              <a:t>AI adapts and learns.</a:t>
            </a:r>
          </a:p>
          <a:p>
            <a:pPr/>
            <a:r>
              <a:t>Distinction matters.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Decision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Recommends actions.</a:t>
            </a:r>
          </a:p>
          <a:p>
            <a:pPr/>
            <a:r>
              <a:t>Supports humans.</a:t>
            </a:r>
          </a:p>
          <a:p>
            <a:pPr/>
            <a:r>
              <a:t>Does not replace accountability.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Autonomous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Acts without human input.</a:t>
            </a:r>
          </a:p>
          <a:p>
            <a:pPr/>
            <a:r>
              <a:t>High-risk contexts.</a:t>
            </a:r>
          </a:p>
          <a:p>
            <a:pPr/>
            <a:r>
              <a:t>Requires safeguards.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Humans oversee decisions.</a:t>
            </a:r>
          </a:p>
          <a:p>
            <a:pPr/>
            <a:r>
              <a:t>Balances efficiency and safety.</a:t>
            </a:r>
          </a:p>
          <a:p>
            <a:pPr/>
            <a:r>
              <a:t>Ethical best practice.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and Feedback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Actions change data.</a:t>
            </a:r>
          </a:p>
          <a:p>
            <a:pPr/>
            <a:r>
              <a:t>Models affect behavior.</a:t>
            </a:r>
          </a:p>
          <a:p>
            <a:pPr/>
            <a:r>
              <a:t>Monitoring is essential.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System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Design.</a:t>
            </a:r>
          </a:p>
          <a:p>
            <a:pPr/>
            <a:r>
              <a:t>Training.</a:t>
            </a:r>
          </a:p>
          <a:p>
            <a:pPr/>
            <a:r>
              <a:t>Deployment.</a:t>
            </a:r>
          </a:p>
          <a:p>
            <a:pPr/>
            <a:r>
              <a:t>Monitoring.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Performance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distributions change.</a:t>
            </a:r>
          </a:p>
          <a:p>
            <a:pPr/>
            <a:r>
              <a:t>Accuracy degrades.</a:t>
            </a:r>
          </a:p>
          <a:p>
            <a:pPr/>
            <a:r>
              <a:t>Retraining required.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of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Policies and oversight.</a:t>
            </a:r>
          </a:p>
          <a:p>
            <a:pPr/>
            <a:r>
              <a:t>Clear accountability.</a:t>
            </a:r>
          </a:p>
          <a:p>
            <a:pPr/>
            <a:r>
              <a:t>Auditability.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Risk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Operational risk.</a:t>
            </a:r>
          </a:p>
          <a:p>
            <a:pPr/>
            <a:r>
              <a:t>Ethical risk.</a:t>
            </a:r>
          </a:p>
          <a:p>
            <a:pPr/>
            <a:r>
              <a:t>Reputational risk.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Regulation and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Growing legal frameworks.</a:t>
            </a:r>
          </a:p>
          <a:p>
            <a:pPr/>
            <a:r>
              <a:t>Transparency requirements.</a:t>
            </a:r>
          </a:p>
          <a:p>
            <a:pPr/>
            <a:r>
              <a:t>Responsible use mandates.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ML is not full AI?</a:t>
            </a:r>
          </a:p>
          <a:p>
            <a:pPr/>
            <a:r>
              <a:t>Why human oversight matters?</a:t>
            </a:r>
          </a:p>
          <a:p>
            <a:pPr/>
            <a:r>
              <a:t>Why governance is critical?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decisions affect many people.</a:t>
            </a:r>
          </a:p>
          <a:p>
            <a:pPr/>
            <a:r>
              <a:t>Small errors amplify.</a:t>
            </a:r>
          </a:p>
          <a:p>
            <a:pPr/>
            <a:r>
              <a:t>Ethics must be proactive.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in ML and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reflects history.</a:t>
            </a:r>
          </a:p>
          <a:p>
            <a:pPr/>
            <a:r>
              <a:t>Models can amplify bias.</a:t>
            </a:r>
          </a:p>
          <a:p>
            <a:pPr/>
            <a:r>
              <a:t>Fairness evaluation is required.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Fairness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 definitions exist.</a:t>
            </a:r>
          </a:p>
          <a:p>
            <a:pPr/>
            <a:r>
              <a:t>Trade-offs are unavoidable.</a:t>
            </a:r>
          </a:p>
          <a:p>
            <a:pPr/>
            <a:r>
              <a:t>Context determines choice.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Transparency and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Stakeholders demand explanations.</a:t>
            </a:r>
          </a:p>
          <a:p>
            <a:pPr/>
            <a:r>
              <a:t>Opaque systems reduce trust.</a:t>
            </a:r>
          </a:p>
          <a:p>
            <a:pPr/>
            <a:r>
              <a:t>Explainability supports adoption.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Large data collection.</a:t>
            </a:r>
          </a:p>
          <a:p>
            <a:pPr/>
            <a:r>
              <a:t>Sensitive attributes.</a:t>
            </a:r>
          </a:p>
          <a:p>
            <a:pPr/>
            <a:r>
              <a:t>Consent and protection required.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Document limitations.</a:t>
            </a:r>
          </a:p>
          <a:p>
            <a:pPr/>
            <a:r>
              <a:t>Monitor continuously.</a:t>
            </a:r>
          </a:p>
          <a:p>
            <a:pPr/>
            <a:r>
              <a:t>Plan for failure.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Low data quality.</a:t>
            </a:r>
          </a:p>
          <a:p>
            <a:pPr/>
            <a:r>
              <a:t>High ethical risk.</a:t>
            </a:r>
          </a:p>
          <a:p>
            <a:pPr/>
            <a:r>
              <a:t>Simple rules suffice.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as a Guardrail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provides discipline.</a:t>
            </a:r>
          </a:p>
          <a:p>
            <a:pPr/>
            <a:r>
              <a:t>Prevents blind automation.</a:t>
            </a:r>
          </a:p>
          <a:p>
            <a:pPr/>
            <a:r>
              <a:t>Supports responsible AI.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Integrating Analytics, ML, and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frames questions.</a:t>
            </a:r>
          </a:p>
          <a:p>
            <a:pPr/>
            <a:r>
              <a:t>ML predicts outcomes.</a:t>
            </a:r>
          </a:p>
          <a:p>
            <a:pPr/>
            <a:r>
              <a:t>AI executes decisions.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Culture matters.</a:t>
            </a:r>
          </a:p>
          <a:p>
            <a:pPr/>
            <a:r>
              <a:t>Skills are required.</a:t>
            </a:r>
          </a:p>
          <a:p>
            <a:pPr/>
            <a:r>
              <a:t>Governance must exist.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for the Modern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Statistical reasoning.</a:t>
            </a:r>
          </a:p>
          <a:p>
            <a:pPr/>
            <a:r>
              <a:t>ML literacy.</a:t>
            </a:r>
          </a:p>
          <a:p>
            <a:pPr/>
            <a:r>
              <a:t>Ethical judgment.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Example: Recommendation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ML predicts preferences.</a:t>
            </a:r>
          </a:p>
          <a:p>
            <a:pPr/>
            <a:r>
              <a:t>AI delivers content.</a:t>
            </a:r>
          </a:p>
          <a:p>
            <a:pPr/>
            <a:r>
              <a:t>Analytics evaluates impact.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Example: Risk Scoring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Predictive models.</a:t>
            </a:r>
          </a:p>
          <a:p>
            <a:pPr/>
            <a:r>
              <a:t>Decision thresholds.</a:t>
            </a:r>
          </a:p>
          <a:p>
            <a:pPr/>
            <a:r>
              <a:t>Ethical oversight.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Greater automation.</a:t>
            </a:r>
          </a:p>
          <a:p>
            <a:pPr/>
            <a:r>
              <a:t>Higher responsibility.</a:t>
            </a:r>
          </a:p>
          <a:p>
            <a:pPr/>
            <a:r>
              <a:t>Human judgment remains central.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underpins ML and AI.</a:t>
            </a:r>
          </a:p>
          <a:p>
            <a:pPr/>
            <a:r>
              <a:t>ML enhances prediction.</a:t>
            </a:r>
          </a:p>
          <a:p>
            <a:pPr/>
            <a:r>
              <a:t>AI operationalizes intelligence responsibly.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