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5: Predictive &amp; Prescriptive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This module focuses on using models to anticipate outcomes and recommend actions.</a:t>
            </a:r>
          </a:p>
          <a:p>
            <a:pPr/>
            <a:r>
              <a:t>Predictive analytics estimates what is likely to happen.</a:t>
            </a:r>
          </a:p>
          <a:p>
            <a:pPr/>
            <a:r>
              <a:t>Prescriptive analytics evaluates what should be done.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Modeling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Statistical models estimate relationships.</a:t>
            </a:r>
          </a:p>
          <a:p>
            <a:pPr/>
            <a:r>
              <a:t>Predictive analytics uses models for forecasting.</a:t>
            </a:r>
          </a:p>
          <a:p>
            <a:pPr/>
            <a:r>
              <a:t>Prescriptive analytics connects predictions to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Phase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Organizations must act, not just analyze.</a:t>
            </a:r>
          </a:p>
          <a:p>
            <a:pPr/>
            <a:r>
              <a:t>Predictions inform planning.</a:t>
            </a:r>
          </a:p>
          <a:p>
            <a:pPr/>
            <a:r>
              <a:t>Prescriptions guide optimal choices.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vs Prescription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Prediction estimates future outcomes.</a:t>
            </a:r>
          </a:p>
          <a:p>
            <a:pPr/>
            <a:r>
              <a:t>Prescription recommends actions.</a:t>
            </a:r>
          </a:p>
          <a:p>
            <a:pPr/>
            <a:r>
              <a:t>Both rely on uncertainty-aware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in the Analytics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Occurs after modeling and inference.</a:t>
            </a:r>
          </a:p>
          <a:p>
            <a:pPr/>
            <a:r>
              <a:t>Feeds directly into decisions.</a:t>
            </a:r>
          </a:p>
          <a:p>
            <a:pPr/>
            <a:r>
              <a:t>Closes the analytics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High-Stakes Decision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Business strategy.</a:t>
            </a:r>
          </a:p>
          <a:p>
            <a:pPr/>
            <a:r>
              <a:t>Healthcare interventions.</a:t>
            </a:r>
          </a:p>
          <a:p>
            <a:pPr/>
            <a:r>
              <a:t>Public policy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Questions of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will happen if trends continue?</a:t>
            </a:r>
          </a:p>
          <a:p>
            <a:pPr/>
            <a:r>
              <a:t>What action leads to the best outcome?</a:t>
            </a:r>
          </a:p>
          <a:p>
            <a:pPr/>
            <a:r>
              <a:t>How do constraints affect decisions?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Understand predictive analytics methods.</a:t>
            </a:r>
          </a:p>
          <a:p>
            <a:pPr/>
            <a:r>
              <a:t>Explain prescriptive analytics concepts.</a:t>
            </a:r>
          </a:p>
          <a:p>
            <a:pPr/>
            <a:r>
              <a:t>Interpret forecasts responsibly.</a:t>
            </a:r>
          </a:p>
          <a:p>
            <a:pPr/>
            <a:r>
              <a:t>Evaluate decision trade-offs.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Predictive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Predictive analytics estimates future outcomes using data and models.</a:t>
            </a:r>
          </a:p>
          <a:p>
            <a:pPr/>
            <a:r>
              <a:t>It relies on historical patterns.</a:t>
            </a:r>
          </a:p>
          <a:p>
            <a:pPr/>
            <a:r>
              <a:t>Predictions are probabilistic, not certain.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vs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Forecasting predicts numeric quantities.</a:t>
            </a:r>
          </a:p>
          <a:p>
            <a:pPr/>
            <a:r>
              <a:t>Classification predicts categories.</a:t>
            </a:r>
          </a:p>
          <a:p>
            <a:pPr/>
            <a:r>
              <a:t>Outcome type determines approach.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Time-Based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Many predictions involve time.</a:t>
            </a:r>
          </a:p>
          <a:p>
            <a:pPr/>
            <a:r>
              <a:t>Assumes continuity of patterns.</a:t>
            </a:r>
          </a:p>
          <a:p>
            <a:pPr/>
            <a:r>
              <a:t>Structural breaks are a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Predictive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Regression-based models.</a:t>
            </a:r>
          </a:p>
          <a:p>
            <a:pPr/>
            <a:r>
              <a:t>Time-series models.</a:t>
            </a:r>
          </a:p>
          <a:p>
            <a:pPr/>
            <a:r>
              <a:t>Machine learning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 to Predictive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Historical data.</a:t>
            </a:r>
          </a:p>
          <a:p>
            <a:pPr/>
            <a:r>
              <a:t>Explanatory variables.</a:t>
            </a:r>
          </a:p>
          <a:p>
            <a:pPr/>
            <a:r>
              <a:t>Assumptions about stability.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Horizon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Short-term vs long-term forecasts.</a:t>
            </a:r>
          </a:p>
          <a:p>
            <a:pPr/>
            <a:r>
              <a:t>Uncertainty increases over time.</a:t>
            </a:r>
          </a:p>
          <a:p>
            <a:pPr/>
            <a:r>
              <a:t>Horizon affects reliability.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Predictive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Compare predictions to observed outcomes.</a:t>
            </a:r>
          </a:p>
          <a:p>
            <a:pPr/>
            <a:r>
              <a:t>Use error metrics.</a:t>
            </a:r>
          </a:p>
          <a:p>
            <a:pPr/>
            <a:r>
              <a:t>Avoid overconfidence.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in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Highly accurate training performance can mislead.</a:t>
            </a:r>
          </a:p>
          <a:p>
            <a:pPr/>
            <a:r>
              <a:t>Generalization matters.</a:t>
            </a:r>
          </a:p>
          <a:p>
            <a:pPr/>
            <a:r>
              <a:t>Validation is essential.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Uncertainty in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Predictions are ranges, not points.</a:t>
            </a:r>
          </a:p>
          <a:p>
            <a:pPr/>
            <a:r>
              <a:t>Confidence intervals matter.</a:t>
            </a:r>
          </a:p>
          <a:p>
            <a:pPr/>
            <a:r>
              <a:t>Scenario analysis helps.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Interpretability in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Stakeholders need understanding.</a:t>
            </a:r>
          </a:p>
          <a:p>
            <a:pPr/>
            <a:r>
              <a:t>Opaque models raise risk.</a:t>
            </a:r>
          </a:p>
          <a:p>
            <a:pPr/>
            <a:r>
              <a:t>Trade-offs must be managed.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Demand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Retail inventory planning.</a:t>
            </a:r>
          </a:p>
          <a:p>
            <a:pPr/>
            <a:r>
              <a:t>Overstock vs stockout risk.</a:t>
            </a:r>
          </a:p>
          <a:p>
            <a:pPr/>
            <a:r>
              <a:t>Forecast error has cost.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are predictions uncertain?</a:t>
            </a:r>
          </a:p>
          <a:p>
            <a:pPr/>
            <a:r>
              <a:t>What affects forecast accuracy?</a:t>
            </a:r>
          </a:p>
          <a:p>
            <a:pPr/>
            <a:r>
              <a:t>Why validate predictions?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Prescriptive Analytics?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Prescriptive analytics recommends actions.</a:t>
            </a:r>
          </a:p>
          <a:p>
            <a:pPr/>
            <a:r>
              <a:t>Uses predictions as inputs.</a:t>
            </a:r>
          </a:p>
          <a:p>
            <a:pPr/>
            <a:r>
              <a:t>Considers constraints and objectives.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Prediction to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Predictions estimate outcomes.</a:t>
            </a:r>
          </a:p>
          <a:p>
            <a:pPr/>
            <a:r>
              <a:t>Prescriptions evaluate choices.</a:t>
            </a:r>
          </a:p>
          <a:p>
            <a:pPr/>
            <a:r>
              <a:t>Decisions involve trade-offs.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Choices under control.</a:t>
            </a:r>
          </a:p>
          <a:p>
            <a:pPr/>
            <a:r>
              <a:t>Examples include pricing or allocation.</a:t>
            </a:r>
          </a:p>
          <a:p>
            <a:pPr/>
            <a:r>
              <a:t>Define possible actions.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Quantify what is being optimized.</a:t>
            </a:r>
          </a:p>
          <a:p>
            <a:pPr/>
            <a:r>
              <a:t>Examples include profit or cost.</a:t>
            </a:r>
          </a:p>
          <a:p>
            <a:pPr/>
            <a:r>
              <a:t>Reflect organizational priorities.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Limit feasible actions.</a:t>
            </a:r>
          </a:p>
          <a:p>
            <a:pPr/>
            <a:r>
              <a:t>May be physical, legal, or budgetary.</a:t>
            </a:r>
          </a:p>
          <a:p>
            <a:pPr/>
            <a:r>
              <a:t>Shape optimal solutions.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Mathematical approach to decision-making.</a:t>
            </a:r>
          </a:p>
          <a:p>
            <a:pPr/>
            <a:r>
              <a:t>Searches for best solution.</a:t>
            </a:r>
          </a:p>
          <a:p>
            <a:pPr/>
            <a:r>
              <a:t>Requires clear objectives.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Optimization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Linear optimization.</a:t>
            </a:r>
          </a:p>
          <a:p>
            <a:pPr/>
            <a:r>
              <a:t>Integer optimization.</a:t>
            </a:r>
          </a:p>
          <a:p>
            <a:pPr/>
            <a:r>
              <a:t>Nonlinear optimization.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Evaluate decisions under uncertainty.</a:t>
            </a:r>
          </a:p>
          <a:p>
            <a:pPr/>
            <a:r>
              <a:t>Explore what-if scenarios.</a:t>
            </a:r>
          </a:p>
          <a:p>
            <a:pPr/>
            <a:r>
              <a:t>Complement optimization.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Trade-Off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decision is free.</a:t>
            </a:r>
          </a:p>
          <a:p>
            <a:pPr/>
            <a:r>
              <a:t>Improving one outcome may worsen another.</a:t>
            </a:r>
          </a:p>
          <a:p>
            <a:pPr/>
            <a:r>
              <a:t>Explicit trade-offs support transparency.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Prescriptive vs Descriptive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Descriptive explains past.</a:t>
            </a:r>
          </a:p>
          <a:p>
            <a:pPr/>
            <a:r>
              <a:t>Prescriptive guides future actions.</a:t>
            </a:r>
          </a:p>
          <a:p>
            <a:pPr/>
            <a:r>
              <a:t>Different analytic goals.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Prescriptive vs Predictive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Predictive estimates outcomes.</a:t>
            </a:r>
          </a:p>
          <a:p>
            <a:pPr/>
            <a:r>
              <a:t>Prescriptive recommends actions.</a:t>
            </a:r>
          </a:p>
          <a:p>
            <a:pPr/>
            <a:r>
              <a:t>Prescription depends on prediction.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Logistics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Route planning.</a:t>
            </a:r>
          </a:p>
          <a:p>
            <a:pPr/>
            <a:r>
              <a:t>Cost vs delivery time.</a:t>
            </a:r>
          </a:p>
          <a:p>
            <a:pPr/>
            <a:r>
              <a:t>Constraints shape solutions.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Healthcare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Resource allocation.</a:t>
            </a:r>
          </a:p>
          <a:p>
            <a:pPr/>
            <a:r>
              <a:t>Patient wait times.</a:t>
            </a:r>
          </a:p>
          <a:p>
            <a:pPr/>
            <a:r>
              <a:t>Ethical considerations.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Prescriptive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Dependent on model assumptions.</a:t>
            </a:r>
          </a:p>
          <a:p>
            <a:pPr/>
            <a:r>
              <a:t>Sensitive to input error.</a:t>
            </a:r>
          </a:p>
          <a:p>
            <a:pPr/>
            <a:r>
              <a:t>Not all objectives are quantifiable.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Prescriptive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What is an objective function?</a:t>
            </a:r>
          </a:p>
          <a:p>
            <a:pPr/>
            <a:r>
              <a:t>Why are constraints important?</a:t>
            </a:r>
          </a:p>
          <a:p>
            <a:pPr/>
            <a:r>
              <a:t>Why use simulation?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Decision-Making Under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Future outcomes are uncertain.</a:t>
            </a:r>
          </a:p>
          <a:p>
            <a:pPr/>
            <a:r>
              <a:t>Decisions must consider risk.</a:t>
            </a:r>
          </a:p>
          <a:p>
            <a:pPr/>
            <a:r>
              <a:t>Analytics supports, not replaces, judgment.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vs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Risk can be quantified.</a:t>
            </a:r>
          </a:p>
          <a:p>
            <a:pPr/>
            <a:r>
              <a:t>Uncertainty cannot be fully measured.</a:t>
            </a:r>
          </a:p>
          <a:p>
            <a:pPr/>
            <a:r>
              <a:t>Both affect decisions.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Explore multiple futures.</a:t>
            </a:r>
          </a:p>
          <a:p>
            <a:pPr/>
            <a:r>
              <a:t>Stress-test decisions.</a:t>
            </a:r>
          </a:p>
          <a:p>
            <a:pPr/>
            <a:r>
              <a:t>Improve robustness.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Assess impact of changes.</a:t>
            </a:r>
          </a:p>
          <a:p>
            <a:pPr/>
            <a:r>
              <a:t>Identify critical assumptions.</a:t>
            </a:r>
          </a:p>
          <a:p>
            <a:pPr/>
            <a:r>
              <a:t>Supports confidence.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of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False positives vs false negatives.</a:t>
            </a:r>
          </a:p>
          <a:p>
            <a:pPr/>
            <a:r>
              <a:t>Different errors have different costs.</a:t>
            </a:r>
          </a:p>
          <a:p>
            <a:pPr/>
            <a:r>
              <a:t>Decision context matters.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Thresholds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Define action cutoffs.</a:t>
            </a:r>
          </a:p>
          <a:p>
            <a:pPr/>
            <a:r>
              <a:t>Balance risk and reward.</a:t>
            </a:r>
          </a:p>
          <a:p>
            <a:pPr/>
            <a:r>
              <a:t>Require stakeholder input.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Judgment in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informs humans.</a:t>
            </a:r>
          </a:p>
          <a:p>
            <a:pPr/>
            <a:r>
              <a:t>Values and ethics matter.</a:t>
            </a:r>
          </a:p>
          <a:p>
            <a:pPr/>
            <a:r>
              <a:t>Blind automation is risky.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Risks in Prescriptive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Unfair outcomes.</a:t>
            </a:r>
          </a:p>
          <a:p>
            <a:pPr/>
            <a:r>
              <a:t>Hidden bias.</a:t>
            </a:r>
          </a:p>
          <a:p>
            <a:pPr/>
            <a:r>
              <a:t>Opaque recommendations.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Fairness in Decision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Decisions affect people.</a:t>
            </a:r>
          </a:p>
          <a:p>
            <a:pPr/>
            <a:r>
              <a:t>Equity considerations matter.</a:t>
            </a:r>
          </a:p>
          <a:p>
            <a:pPr/>
            <a:r>
              <a:t>Evaluation must include fairness.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Transparency and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Stakeholders need explanations.</a:t>
            </a:r>
          </a:p>
          <a:p>
            <a:pPr/>
            <a:r>
              <a:t>Auditability is essential.</a:t>
            </a:r>
          </a:p>
          <a:p>
            <a:pPr/>
            <a:r>
              <a:t>Trust depends on openness.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Fatigue and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Automation reduces workload.</a:t>
            </a:r>
          </a:p>
          <a:p>
            <a:pPr/>
            <a:r>
              <a:t>Overreliance is dangerous.</a:t>
            </a:r>
          </a:p>
          <a:p>
            <a:pPr/>
            <a:r>
              <a:t>Human oversight is required.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Decision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Decisions operate over time.</a:t>
            </a:r>
          </a:p>
          <a:p>
            <a:pPr/>
            <a:r>
              <a:t>Performance must be reviewed.</a:t>
            </a:r>
          </a:p>
          <a:p>
            <a:pPr/>
            <a:r>
              <a:t>Environments change.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from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Decisions generate data.</a:t>
            </a:r>
          </a:p>
          <a:p>
            <a:pPr/>
            <a:r>
              <a:t>Feedback improves models.</a:t>
            </a:r>
          </a:p>
          <a:p>
            <a:pPr/>
            <a:r>
              <a:t>Analytics is iterative.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Example: Pricing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Revenue optimization.</a:t>
            </a:r>
          </a:p>
          <a:p>
            <a:pPr/>
            <a:r>
              <a:t>Customer response uncertainty.</a:t>
            </a:r>
          </a:p>
          <a:p>
            <a:pPr/>
            <a:r>
              <a:t>Ethical pricing considerations.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Checkpoint: Decisions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include ethics in decisions?</a:t>
            </a:r>
          </a:p>
          <a:p>
            <a:pPr/>
            <a:r>
              <a:t>What is sensitivity analysis?</a:t>
            </a:r>
          </a:p>
          <a:p>
            <a:pPr/>
            <a:r>
              <a:t>Why monitor decision systems?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Integrating Predictive and Prescriptive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Prediction informs prescription.</a:t>
            </a:r>
          </a:p>
          <a:p>
            <a:pPr/>
            <a:r>
              <a:t>Prescription drives action.</a:t>
            </a:r>
          </a:p>
          <a:p>
            <a:pPr/>
            <a:r>
              <a:t>Integration improves outcomes.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Analytics to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Analytics supports planning.</a:t>
            </a:r>
          </a:p>
          <a:p>
            <a:pPr/>
            <a:r>
              <a:t>Decisions align with goals.</a:t>
            </a:r>
          </a:p>
          <a:p>
            <a:pPr/>
            <a:r>
              <a:t>Strategy requires evidence.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Limits of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all values are quantifiable.</a:t>
            </a:r>
          </a:p>
          <a:p>
            <a:pPr/>
            <a:r>
              <a:t>Human values matter.</a:t>
            </a:r>
          </a:p>
          <a:p>
            <a:pPr/>
            <a:r>
              <a:t>Analytics has boundaries.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Communicating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Explain rationale.</a:t>
            </a:r>
          </a:p>
          <a:p>
            <a:pPr/>
            <a:r>
              <a:t>Clarify assumptions.</a:t>
            </a:r>
          </a:p>
          <a:p>
            <a:pPr/>
            <a:r>
              <a:t>Discuss risks.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Avoiding False 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 not overstate certainty.</a:t>
            </a:r>
          </a:p>
          <a:p>
            <a:pPr/>
            <a:r>
              <a:t>Ranges are more honest.</a:t>
            </a:r>
          </a:p>
          <a:p>
            <a:pPr/>
            <a:r>
              <a:t>Humility builds trust.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Support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Embed analytics into workflows.</a:t>
            </a:r>
          </a:p>
          <a:p>
            <a:pPr/>
            <a:r>
              <a:t>Support consistent decisions.</a:t>
            </a:r>
          </a:p>
          <a:p>
            <a:pPr/>
            <a:r>
              <a:t>Require governance.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Organizational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Culture affects adoption.</a:t>
            </a:r>
          </a:p>
          <a:p>
            <a:pPr/>
            <a:r>
              <a:t>Trust is required.</a:t>
            </a:r>
          </a:p>
          <a:p>
            <a:pPr/>
            <a:r>
              <a:t>Training matters.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Maturity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Descriptive to prescriptive.</a:t>
            </a:r>
          </a:p>
          <a:p>
            <a:pPr/>
            <a:r>
              <a:t>Increasing sophistication.</a:t>
            </a:r>
          </a:p>
          <a:p>
            <a:pPr/>
            <a:r>
              <a:t>Higher responsibility.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Analytics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→ Models → Decisions.</a:t>
            </a:r>
          </a:p>
          <a:p>
            <a:pPr/>
            <a:r>
              <a:t>Each step matters.</a:t>
            </a:r>
          </a:p>
          <a:p>
            <a:pPr/>
            <a:r>
              <a:t>Weak links undermine outcomes.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Predictive analytics forecasts outcomes.</a:t>
            </a:r>
          </a:p>
          <a:p>
            <a:pPr/>
            <a:r>
              <a:t>Prescriptive analytics recommends actions.</a:t>
            </a:r>
          </a:p>
          <a:p>
            <a:pPr/>
            <a:r>
              <a:t>Decisions involve uncertainty.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Preparing for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Recommendations must be shared.</a:t>
            </a:r>
          </a:p>
          <a:p>
            <a:pPr/>
            <a:r>
              <a:t>Visualization supports persuasion.</a:t>
            </a:r>
          </a:p>
          <a:p>
            <a:pPr/>
            <a:r>
              <a:t>Storytelling follows.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to Next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Next: Visualization &amp; Storytelling.</a:t>
            </a:r>
          </a:p>
          <a:p>
            <a:pPr/>
            <a:r>
              <a:t>Communicating decisions.</a:t>
            </a:r>
          </a:p>
          <a:p>
            <a:pPr/>
            <a:r>
              <a:t>Closing the analytics loop.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