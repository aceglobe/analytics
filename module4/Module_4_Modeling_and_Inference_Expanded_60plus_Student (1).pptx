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4: Statistical Modeling and 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This module moves from exploration to formal modeling.</a:t>
            </a:r>
          </a:p>
          <a:p>
            <a:pPr/>
            <a:r>
              <a:t>Models are used to explain relationships and make predictions.</a:t>
            </a:r>
          </a:p>
          <a:p>
            <a:pPr/>
            <a:r>
              <a:t>Inference allows analysts to reason beyond observed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EDA to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EDA reveals patterns and structure.</a:t>
            </a:r>
          </a:p>
          <a:p>
            <a:pPr/>
            <a:r>
              <a:t>Modeling formalizes those patterns mathematically.</a:t>
            </a:r>
          </a:p>
          <a:p>
            <a:pPr/>
            <a:r>
              <a:t>Poor EDA leads to weak or misleading models.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Model?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 model is a simplified representation of reality.</a:t>
            </a:r>
          </a:p>
          <a:p>
            <a:pPr/>
            <a:r>
              <a:t>Models describe relationships between variables.</a:t>
            </a:r>
          </a:p>
          <a:p>
            <a:pPr/>
            <a:r>
              <a:t>All models involve assumptions and approximations.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We Use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 explain relationships.</a:t>
            </a:r>
          </a:p>
          <a:p>
            <a:pPr/>
            <a:r>
              <a:t>To predict future outcomes.</a:t>
            </a:r>
          </a:p>
          <a:p>
            <a:pPr/>
            <a:r>
              <a:t>To quantify uncertainty.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vs Reality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Models are not exact copies of reality.</a:t>
            </a:r>
          </a:p>
          <a:p>
            <a:pPr/>
            <a:r>
              <a:t>They emphasize key relationships.</a:t>
            </a:r>
          </a:p>
          <a:p>
            <a:pPr/>
            <a:r>
              <a:t>Simplification is both necessary and risky.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Inference in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Inference uses sample data to draw broader conclusions.</a:t>
            </a:r>
          </a:p>
          <a:p>
            <a:pPr/>
            <a:r>
              <a:t>It allows generalization beyond observed data.</a:t>
            </a:r>
          </a:p>
          <a:p>
            <a:pPr/>
            <a:r>
              <a:t>Uncertainty is always present.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Questions of This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How are models constructed?</a:t>
            </a:r>
          </a:p>
          <a:p>
            <a:pPr/>
            <a:r>
              <a:t>How are assumptions evaluated?</a:t>
            </a:r>
          </a:p>
          <a:p>
            <a:pPr/>
            <a:r>
              <a:t>How are results interpreted responsibly?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Understand statistical models.</a:t>
            </a:r>
          </a:p>
          <a:p>
            <a:pPr/>
            <a:r>
              <a:t>Interpret model outputs.</a:t>
            </a:r>
          </a:p>
          <a:p>
            <a:pPr/>
            <a:r>
              <a:t>Evaluate assumptions and limitations.</a:t>
            </a:r>
          </a:p>
          <a:p>
            <a:pPr/>
            <a:r>
              <a:t>Distinguish prediction from explanation.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Variables in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Models relate dependent and independent variables.</a:t>
            </a:r>
          </a:p>
          <a:p>
            <a:pPr/>
            <a:r>
              <a:t>Dependent variables represent outcomes.</a:t>
            </a:r>
          </a:p>
          <a:p>
            <a:pPr/>
            <a:r>
              <a:t>Independent variables represent predictors.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Response (Dependent)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The outcome being explained or predicted.</a:t>
            </a:r>
          </a:p>
          <a:p>
            <a:pPr/>
            <a:r>
              <a:t>Examples include income, sales, or disease status.</a:t>
            </a:r>
          </a:p>
          <a:p>
            <a:pPr/>
            <a:r>
              <a:t>Choice reflects analytical goals.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Predictor (Independent)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Variables used to explain or predict outcomes.</a:t>
            </a:r>
          </a:p>
          <a:p>
            <a:pPr/>
            <a:r>
              <a:t>May be numeric or categorical.</a:t>
            </a:r>
          </a:p>
          <a:p>
            <a:pPr/>
            <a:r>
              <a:t>Selection is theory-driven.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Functional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Models specify how variables relate.</a:t>
            </a:r>
          </a:p>
          <a:p>
            <a:pPr/>
            <a:r>
              <a:t>Relationships may be linear or nonlinear.</a:t>
            </a:r>
          </a:p>
          <a:p>
            <a:pPr/>
            <a:r>
              <a:t>Form choice affects interpretation.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Parameters quantify relationships in models.</a:t>
            </a:r>
          </a:p>
          <a:p>
            <a:pPr/>
            <a:r>
              <a:t>Estimated from data.</a:t>
            </a:r>
          </a:p>
          <a:p>
            <a:pPr/>
            <a:r>
              <a:t>Represent average effects.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Estimation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Estimation finds parameter values.</a:t>
            </a:r>
          </a:p>
          <a:p>
            <a:pPr/>
            <a:r>
              <a:t>Uses optimization techniques.</a:t>
            </a:r>
          </a:p>
          <a:p>
            <a:pPr/>
            <a:r>
              <a:t>Data quality affects estimates.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Fit measures how well a model matches data.</a:t>
            </a:r>
          </a:p>
          <a:p>
            <a:pPr/>
            <a:r>
              <a:t>Better fit does not always mean better model.</a:t>
            </a:r>
          </a:p>
          <a:p>
            <a:pPr/>
            <a:r>
              <a:t>Overfitting is a risk.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Overfitting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Model fits noise instead of signal.</a:t>
            </a:r>
          </a:p>
          <a:p>
            <a:pPr/>
            <a:r>
              <a:t>Occurs with too much complexity.</a:t>
            </a:r>
          </a:p>
          <a:p>
            <a:pPr/>
            <a:r>
              <a:t>Reduces generalizability.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Bias–Variance Tradeoff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Simple models have higher bias.</a:t>
            </a:r>
          </a:p>
          <a:p>
            <a:pPr/>
            <a:r>
              <a:t>Complex models have higher variance.</a:t>
            </a:r>
          </a:p>
          <a:p>
            <a:pPr/>
            <a:r>
              <a:t>Balance is essential.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vs Testing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Models are trained on one dataset.</a:t>
            </a:r>
          </a:p>
          <a:p>
            <a:pPr/>
            <a:r>
              <a:t>Evaluated on separate data.</a:t>
            </a:r>
          </a:p>
          <a:p>
            <a:pPr/>
            <a:r>
              <a:t>Prevents overly optimistic results.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Explaining vs Predicting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Explanation focuses on relationships.</a:t>
            </a:r>
          </a:p>
          <a:p>
            <a:pPr/>
            <a:r>
              <a:t>Prediction focuses on accuracy.</a:t>
            </a:r>
          </a:p>
          <a:p>
            <a:pPr/>
            <a:r>
              <a:t>Goals influence model choice.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Checkpoint: Modeling Foundations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What is a dependent variable?</a:t>
            </a:r>
          </a:p>
          <a:p>
            <a:pPr/>
            <a:r>
              <a:t>Why is overfitting dangerous?</a:t>
            </a:r>
          </a:p>
          <a:p>
            <a:pPr/>
            <a:r>
              <a:t>Why separate training and testing data?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Linear Regression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Models linear relationships.</a:t>
            </a:r>
          </a:p>
          <a:p>
            <a:pPr/>
            <a:r>
              <a:t>Widely used for explanation and prediction.</a:t>
            </a:r>
          </a:p>
          <a:p>
            <a:pPr/>
            <a:r>
              <a:t>Assumes linearity and independence.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Interpreting Regression Coefficients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Coefficients represent average change.</a:t>
            </a:r>
          </a:p>
          <a:p>
            <a:pPr/>
            <a:r>
              <a:t>Interpretation depends on scale.</a:t>
            </a:r>
          </a:p>
          <a:p>
            <a:pPr/>
            <a:r>
              <a:t>Context matters.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Assumptions of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Linearity.</a:t>
            </a:r>
          </a:p>
          <a:p>
            <a:pPr/>
            <a:r>
              <a:t>Independence.</a:t>
            </a:r>
          </a:p>
          <a:p>
            <a:pPr/>
            <a:r>
              <a:t>Homoscedasticity.</a:t>
            </a:r>
          </a:p>
          <a:p>
            <a:pPr/>
            <a:r>
              <a:t>Normal errors.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Violations of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Bias estimates.</a:t>
            </a:r>
          </a:p>
          <a:p>
            <a:pPr/>
            <a:r>
              <a:t>Inflate uncertainty.</a:t>
            </a:r>
          </a:p>
          <a:p>
            <a:pPr/>
            <a:r>
              <a:t>Require diagnostics.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Logistic Regression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Used for binary outcomes.</a:t>
            </a:r>
          </a:p>
          <a:p>
            <a:pPr/>
            <a:r>
              <a:t>Models probabilities.</a:t>
            </a:r>
          </a:p>
          <a:p>
            <a:pPr/>
            <a:r>
              <a:t>Common in classification tasks.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Interpreting Logistic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Coefficients affect log-odds.</a:t>
            </a:r>
          </a:p>
          <a:p>
            <a:pPr/>
            <a:r>
              <a:t>Probabilities are nonlinear.</a:t>
            </a:r>
          </a:p>
          <a:p>
            <a:pPr/>
            <a:r>
              <a:t>Interpretation requires care.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Classification vs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Regression predicts numeric outcomes.</a:t>
            </a:r>
          </a:p>
          <a:p>
            <a:pPr/>
            <a:r>
              <a:t>Classification predicts categories.</a:t>
            </a:r>
          </a:p>
          <a:p>
            <a:pPr/>
            <a:r>
              <a:t>Model choice depends on outcome type.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Split data into decision rules.</a:t>
            </a:r>
          </a:p>
          <a:p>
            <a:pPr/>
            <a:r>
              <a:t>Easy to interpret.</a:t>
            </a:r>
          </a:p>
          <a:p>
            <a:pPr/>
            <a:r>
              <a:t>Can overfit.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Ensemble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Combine multiple models.</a:t>
            </a:r>
          </a:p>
          <a:p>
            <a:pPr/>
            <a:r>
              <a:t>Improve predictive accuracy.</a:t>
            </a:r>
          </a:p>
          <a:p>
            <a:pPr/>
            <a:r>
              <a:t>Reduce variance.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vs Statistical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Statistical models emphasize inference.</a:t>
            </a:r>
          </a:p>
          <a:p>
            <a:pPr/>
            <a:r>
              <a:t>Machine learning emphasizes prediction.</a:t>
            </a:r>
          </a:p>
          <a:p>
            <a:pPr/>
            <a:r>
              <a:t>Boundaries often overlap.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More parameters increase flexibility.</a:t>
            </a:r>
          </a:p>
          <a:p>
            <a:pPr/>
            <a:r>
              <a:t>Complexity increases risk.</a:t>
            </a:r>
          </a:p>
          <a:p>
            <a:pPr/>
            <a:r>
              <a:t>EDA informs complexity choice.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Compare competing models.</a:t>
            </a:r>
          </a:p>
          <a:p>
            <a:pPr/>
            <a:r>
              <a:t>Use validation metrics.</a:t>
            </a:r>
          </a:p>
          <a:p>
            <a:pPr/>
            <a:r>
              <a:t>Avoid relying on fit alone.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Interpretability vs 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Highly accurate models may be opaque.</a:t>
            </a:r>
          </a:p>
          <a:p>
            <a:pPr/>
            <a:r>
              <a:t>Interpretable models support decisions.</a:t>
            </a:r>
          </a:p>
          <a:p>
            <a:pPr/>
            <a:r>
              <a:t>Trade-offs are unavoidable.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Example: Credit Scoring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Predict default risk.</a:t>
            </a:r>
          </a:p>
          <a:p>
            <a:pPr/>
            <a:r>
              <a:t>Balance accuracy and fairness.</a:t>
            </a:r>
          </a:p>
          <a:p>
            <a:pPr/>
            <a:r>
              <a:t>Interpretation affects policy.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Checkpoint: Model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When use logistic regression?</a:t>
            </a:r>
          </a:p>
          <a:p>
            <a:pPr/>
            <a:r>
              <a:t>Why are trees interpretable?</a:t>
            </a:r>
          </a:p>
          <a:p>
            <a:pPr/>
            <a:r>
              <a:t>What is an ensemble?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Uncertainty in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All estimates involve uncertainty.</a:t>
            </a:r>
          </a:p>
          <a:p>
            <a:pPr/>
            <a:r>
              <a:t>Ignoring uncertainty misleads.</a:t>
            </a:r>
          </a:p>
          <a:p>
            <a:pPr/>
            <a:r>
              <a:t>Inference quantifies uncertainty.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Sampling Variability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Different samples give different results.</a:t>
            </a:r>
          </a:p>
          <a:p>
            <a:pPr/>
            <a:r>
              <a:t>Larger samples reduce variability.</a:t>
            </a:r>
          </a:p>
          <a:p>
            <a:pPr/>
            <a:r>
              <a:t>Randomness is unavoidable.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Confidence Intervals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Provide ranges of plausible values.</a:t>
            </a:r>
          </a:p>
          <a:p>
            <a:pPr/>
            <a:r>
              <a:t>Reflect uncertainty.</a:t>
            </a:r>
          </a:p>
          <a:p>
            <a:pPr/>
            <a:r>
              <a:t>Wider intervals mean less precision.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Statistical Significance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Assesses strength of evidence.</a:t>
            </a:r>
          </a:p>
          <a:p>
            <a:pPr/>
            <a:r>
              <a:t>Depends on variability and sample size.</a:t>
            </a:r>
          </a:p>
          <a:p>
            <a:pPr/>
            <a:r>
              <a:t>Not a measure of importance.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P-Values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Measure compatibility with null hypothesis.</a:t>
            </a:r>
          </a:p>
          <a:p>
            <a:pPr/>
            <a:r>
              <a:t>Small p-values indicate evidence.</a:t>
            </a:r>
          </a:p>
          <a:p>
            <a:pPr/>
            <a:r>
              <a:t>Often misunderstood.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of P-Values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Sensitive to sample size.</a:t>
            </a:r>
          </a:p>
          <a:p>
            <a:pPr/>
            <a:r>
              <a:t>Do not measure effect size.</a:t>
            </a:r>
          </a:p>
          <a:p>
            <a:pPr/>
            <a:r>
              <a:t>Require careful interpretation.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Effect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Measures magnitude of relationship.</a:t>
            </a:r>
          </a:p>
          <a:p>
            <a:pPr/>
            <a:r>
              <a:t>Complements significance testing.</a:t>
            </a:r>
          </a:p>
          <a:p>
            <a:pPr/>
            <a:r>
              <a:t>Important for decision-making.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Diagnostics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Check residual patterns.</a:t>
            </a:r>
          </a:p>
          <a:p>
            <a:pPr/>
            <a:r>
              <a:t>Assess assumptions.</a:t>
            </a:r>
          </a:p>
          <a:p>
            <a:pPr/>
            <a:r>
              <a:t>Detect influential observations.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Residual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Residuals measure model error.</a:t>
            </a:r>
          </a:p>
          <a:p>
            <a:pPr/>
            <a:r>
              <a:t>Patterns indicate problems.</a:t>
            </a:r>
          </a:p>
          <a:p>
            <a:pPr/>
            <a:r>
              <a:t>Randomness is desired.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Influential 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Some points strongly affect estimates.</a:t>
            </a:r>
          </a:p>
          <a:p>
            <a:pPr/>
            <a:r>
              <a:t>May reflect errors or rare cases.</a:t>
            </a:r>
          </a:p>
          <a:p>
            <a:pPr/>
            <a:r>
              <a:t>Require investigation.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Robustness Checks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Test alternative specifications.</a:t>
            </a:r>
          </a:p>
          <a:p>
            <a:pPr/>
            <a:r>
              <a:t>Assess sensitivity.</a:t>
            </a:r>
          </a:p>
          <a:p>
            <a:pPr/>
            <a:r>
              <a:t>Strengthen conclusions.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Inference vs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Inference explains relationships.</a:t>
            </a:r>
          </a:p>
          <a:p>
            <a:pPr/>
            <a:r>
              <a:t>Prediction prioritizes accuracy.</a:t>
            </a:r>
          </a:p>
          <a:p>
            <a:pPr/>
            <a:r>
              <a:t>Confusing them leads to errors.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Causal Interpretation Caution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Association is not causation.</a:t>
            </a:r>
          </a:p>
          <a:p>
            <a:pPr/>
            <a:r>
              <a:t>Models alone rarely establish causality.</a:t>
            </a:r>
          </a:p>
          <a:p>
            <a:pPr/>
            <a:r>
              <a:t>Design and theory matter.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Risks in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Bias amplification.</a:t>
            </a:r>
          </a:p>
          <a:p>
            <a:pPr/>
            <a:r>
              <a:t>Opaque decision systems.</a:t>
            </a:r>
          </a:p>
          <a:p>
            <a:pPr/>
            <a:r>
              <a:t>Unfair outcomes.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Checkpoint: Inference &amp; Uncertainty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Why quantify uncertainty?</a:t>
            </a:r>
          </a:p>
          <a:p>
            <a:pPr/>
            <a:r>
              <a:t>What do confidence intervals show?</a:t>
            </a:r>
          </a:p>
          <a:p>
            <a:pPr/>
            <a:r>
              <a:t>Why p-values are limited?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Inform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Models support choices.</a:t>
            </a:r>
          </a:p>
          <a:p>
            <a:pPr/>
            <a:r>
              <a:t>They do not make decisions alone.</a:t>
            </a:r>
          </a:p>
          <a:p>
            <a:pPr/>
            <a:r>
              <a:t>Human judgment remains essential.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Communicating Model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Translate technical output.</a:t>
            </a:r>
          </a:p>
          <a:p>
            <a:pPr/>
            <a:r>
              <a:t>Explain assumptions and limits.</a:t>
            </a:r>
          </a:p>
          <a:p>
            <a:pPr/>
            <a:r>
              <a:t>Avoid false certainty.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Transparency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Stakeholders need understanding.</a:t>
            </a:r>
          </a:p>
          <a:p>
            <a:pPr/>
            <a:r>
              <a:t>Transparency builds trust.</a:t>
            </a:r>
          </a:p>
          <a:p>
            <a:pPr/>
            <a:r>
              <a:t>Black-box models pose risks.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Beyond 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Check fairness.</a:t>
            </a:r>
          </a:p>
          <a:p>
            <a:pPr/>
            <a:r>
              <a:t>Assess stability.</a:t>
            </a:r>
          </a:p>
          <a:p>
            <a:pPr/>
            <a:r>
              <a:t>Monitor performance over time.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Models operate in changing environments.</a:t>
            </a:r>
          </a:p>
          <a:p>
            <a:pPr/>
            <a:r>
              <a:t>Data drift affects performance.</a:t>
            </a:r>
          </a:p>
          <a:p>
            <a:pPr/>
            <a:r>
              <a:t>Monitoring is required.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Development.</a:t>
            </a:r>
          </a:p>
          <a:p>
            <a:pPr/>
            <a:r>
              <a:t>Validation.</a:t>
            </a:r>
          </a:p>
          <a:p>
            <a:pPr/>
            <a:r>
              <a:t>Deployment.</a:t>
            </a:r>
          </a:p>
          <a:p>
            <a:pPr/>
            <a:r>
              <a:t>Monitoring.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Models Fail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Changing conditions.</a:t>
            </a:r>
          </a:p>
          <a:p>
            <a:pPr/>
            <a:r>
              <a:t>Poor assumptions.</a:t>
            </a:r>
          </a:p>
          <a:p>
            <a:pPr/>
            <a:r>
              <a:t>Unrecognized bias.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from Model Failure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Failures provide insight.</a:t>
            </a:r>
          </a:p>
          <a:p>
            <a:pPr/>
            <a:r>
              <a:t>Support improvement.</a:t>
            </a:r>
          </a:p>
          <a:p>
            <a:pPr/>
            <a:r>
              <a:t>Encourage humility.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Responsible Model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Document limitations.</a:t>
            </a:r>
          </a:p>
          <a:p>
            <a:pPr/>
            <a:r>
              <a:t>Avoid overconfidence.</a:t>
            </a:r>
          </a:p>
          <a:p>
            <a:pPr/>
            <a:r>
              <a:t>Respect affected populations.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Example: Hiring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Predict job performance.</a:t>
            </a:r>
          </a:p>
          <a:p>
            <a:pPr/>
            <a:r>
              <a:t>Risk of bias.</a:t>
            </a:r>
          </a:p>
          <a:p>
            <a:pPr/>
            <a:r>
              <a:t>Ethical oversight required.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Example: Healthcare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Predict patient risk.</a:t>
            </a:r>
          </a:p>
          <a:p>
            <a:pPr/>
            <a:r>
              <a:t>High stakes decisions.</a:t>
            </a:r>
          </a:p>
          <a:p>
            <a:pPr/>
            <a:r>
              <a:t>Transparency is critical.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Modeling to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Models estimate outcomes.</a:t>
            </a:r>
          </a:p>
          <a:p>
            <a:pPr/>
            <a:r>
              <a:t>Next step recommends actions.</a:t>
            </a:r>
          </a:p>
          <a:p>
            <a:pPr/>
            <a:r>
              <a:t>Leads to prescriptive analytics.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Connection to Next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Next phase focuses on decision-making.</a:t>
            </a:r>
          </a:p>
          <a:p>
            <a:pPr/>
            <a:r>
              <a:t>Optimization and prescriptions.</a:t>
            </a:r>
          </a:p>
          <a:p>
            <a:pPr/>
            <a:r>
              <a:t>Analytics closes the loop.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4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Modeling formalizes patterns.</a:t>
            </a:r>
          </a:p>
          <a:p>
            <a:pPr/>
            <a:r>
              <a:t>Inference quantifies uncertainty.</a:t>
            </a:r>
          </a:p>
          <a:p>
            <a:pPr/>
            <a:r>
              <a:t>Responsible use is essential.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Transition to Module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Module 5: Predictive &amp; Prescriptive Analytics.</a:t>
            </a:r>
          </a:p>
          <a:p>
            <a:pPr/>
            <a:r>
              <a:t>From models to action.</a:t>
            </a:r>
          </a:p>
          <a:p>
            <a:pPr/>
            <a:r>
              <a:t>Analytics for decision support.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