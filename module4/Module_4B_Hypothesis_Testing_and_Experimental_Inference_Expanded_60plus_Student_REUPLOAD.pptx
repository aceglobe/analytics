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4B: Hypothesis Testing &amp; Experimental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focuses on formal statistical inference.</a:t>
            </a:r>
          </a:p>
          <a:p>
            <a:pPr/>
            <a:r>
              <a:t>It evaluates whether observed patterns are likely due to chance.</a:t>
            </a:r>
          </a:p>
          <a:p>
            <a:pPr/>
            <a:r>
              <a:t>Hypothesis testing provides evidence-based conclusions.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Hypothesis Testing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EDA reveals patterns but does not confirm them.</a:t>
            </a:r>
          </a:p>
          <a:p>
            <a:pPr/>
            <a:r>
              <a:t>Hypothesis testing assesses statistical evidence.</a:t>
            </a:r>
          </a:p>
          <a:p>
            <a:pPr/>
            <a:r>
              <a:t>Decisions require defensible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vs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Exploratory analysis suggests hypotheses.</a:t>
            </a:r>
          </a:p>
          <a:p>
            <a:pPr/>
            <a:r>
              <a:t>Confirmatory analysis tests them.</a:t>
            </a:r>
          </a:p>
          <a:p>
            <a:pPr/>
            <a:r>
              <a:t>Confusing the two leads to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in the Analytics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Inference follows EDA and modeling.</a:t>
            </a:r>
          </a:p>
          <a:p>
            <a:pPr/>
            <a:r>
              <a:t>It quantifies uncertainty.</a:t>
            </a:r>
          </a:p>
          <a:p>
            <a:pPr/>
            <a:r>
              <a:t>Supports generalization beyond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 the observed effect real?</a:t>
            </a:r>
          </a:p>
          <a:p>
            <a:pPr/>
            <a:r>
              <a:t>How strong is the evidence?</a:t>
            </a:r>
          </a:p>
          <a:p>
            <a:pPr/>
            <a:r>
              <a:t>What uncertainty remains?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Experiments in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Experiments support causal inference.</a:t>
            </a:r>
          </a:p>
          <a:p>
            <a:pPr/>
            <a:r>
              <a:t>Randomization reduces bias.</a:t>
            </a:r>
          </a:p>
          <a:p>
            <a:pPr/>
            <a:r>
              <a:t>Design matters as much as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Inference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Classical hypothesis testing.</a:t>
            </a:r>
          </a:p>
          <a:p>
            <a:pPr/>
            <a:r>
              <a:t>Confidence interval reasoning.</a:t>
            </a:r>
          </a:p>
          <a:p>
            <a:pPr/>
            <a:r>
              <a:t>Experimental and quasi-experimental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Formulate hypotheses.</a:t>
            </a:r>
          </a:p>
          <a:p>
            <a:pPr/>
            <a:r>
              <a:t>Select appropriate tests.</a:t>
            </a:r>
          </a:p>
          <a:p>
            <a:pPr/>
            <a:r>
              <a:t>Interpret results correctly.</a:t>
            </a:r>
          </a:p>
          <a:p>
            <a:pPr/>
            <a:r>
              <a:t>Understand experimental designs.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Statistical Hypothesis?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hypothesis is a formal claim about a population.</a:t>
            </a:r>
          </a:p>
          <a:p>
            <a:pPr/>
            <a:r>
              <a:t>It is evaluated using sample data.</a:t>
            </a:r>
          </a:p>
          <a:p>
            <a:pPr/>
            <a:r>
              <a:t>Hypotheses must be testable.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Null and Alternative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Null hypothesis represents no effect.</a:t>
            </a:r>
          </a:p>
          <a:p>
            <a:pPr/>
            <a:r>
              <a:t>Alternative represents an effect or difference.</a:t>
            </a:r>
          </a:p>
          <a:p>
            <a:pPr/>
            <a:r>
              <a:t>Testing evaluates evidence against the null.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of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Assume the null hypothesis is true.</a:t>
            </a:r>
          </a:p>
          <a:p>
            <a:pPr/>
            <a:r>
              <a:t>Assess how likely observed data is.</a:t>
            </a:r>
          </a:p>
          <a:p>
            <a:pPr/>
            <a:r>
              <a:t>Unlikely results weaken the null.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Quantify deviation from the null.</a:t>
            </a:r>
          </a:p>
          <a:p>
            <a:pPr/>
            <a:r>
              <a:t>Derived from sample data.</a:t>
            </a:r>
          </a:p>
          <a:p>
            <a:pPr/>
            <a:r>
              <a:t>Different tests use different statistics.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Sampling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Describe behavior of statistics across samples.</a:t>
            </a:r>
          </a:p>
          <a:p>
            <a:pPr/>
            <a:r>
              <a:t>Enable probability calculations.</a:t>
            </a:r>
          </a:p>
          <a:p>
            <a:pPr/>
            <a:r>
              <a:t>Depend on assumptions.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 compatibility with the null hypothesis.</a:t>
            </a:r>
          </a:p>
          <a:p>
            <a:pPr/>
            <a:r>
              <a:t>Small p-values indicate evidence.</a:t>
            </a:r>
          </a:p>
          <a:p>
            <a:pPr/>
            <a:r>
              <a:t>Often misunderstood.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P-Values Correctly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the probability the null is true.</a:t>
            </a:r>
          </a:p>
          <a:p>
            <a:pPr/>
            <a:r>
              <a:t>Not a measure of importance.</a:t>
            </a:r>
          </a:p>
          <a:p>
            <a:pPr/>
            <a:r>
              <a:t>Context is essential.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Threshold for decision-making.</a:t>
            </a:r>
          </a:p>
          <a:p>
            <a:pPr/>
            <a:r>
              <a:t>Common levels include 0.05.</a:t>
            </a:r>
          </a:p>
          <a:p>
            <a:pPr/>
            <a:r>
              <a:t>Choice reflects tolerance for 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I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Rejecting a true null hypothesis.</a:t>
            </a:r>
          </a:p>
          <a:p>
            <a:pPr/>
            <a:r>
              <a:t>False positive.</a:t>
            </a:r>
          </a:p>
          <a:p>
            <a:pPr/>
            <a:r>
              <a:t>Controlled by significance level.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II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Failing to reject a false null.</a:t>
            </a:r>
          </a:p>
          <a:p>
            <a:pPr/>
            <a:r>
              <a:t>False negative.</a:t>
            </a:r>
          </a:p>
          <a:p>
            <a:pPr/>
            <a:r>
              <a:t>Affected by sample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Probability of detecting a real effect.</a:t>
            </a:r>
          </a:p>
          <a:p>
            <a:pPr/>
            <a:r>
              <a:t>Increases with sample size.</a:t>
            </a:r>
          </a:p>
          <a:p>
            <a:pPr/>
            <a:r>
              <a:t>Low power undermines inference.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Testing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does a p-value represent?</a:t>
            </a:r>
          </a:p>
          <a:p>
            <a:pPr/>
            <a:r>
              <a:t>Difference between Type I and II errors?</a:t>
            </a:r>
          </a:p>
          <a:p>
            <a:pPr/>
            <a:r>
              <a:t>Why is power important?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Depends on data type.</a:t>
            </a:r>
          </a:p>
          <a:p>
            <a:pPr/>
            <a:r>
              <a:t>Depends on study design.</a:t>
            </a:r>
          </a:p>
          <a:p>
            <a:pPr/>
            <a:r>
              <a:t>Assumptions must be checked.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One-Sample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sample to known value.</a:t>
            </a:r>
          </a:p>
          <a:p>
            <a:pPr/>
            <a:r>
              <a:t>Test means or proportions.</a:t>
            </a:r>
          </a:p>
          <a:p>
            <a:pPr/>
            <a:r>
              <a:t>Used in benchmarking.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Two-Sample Independent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two independent groups.</a:t>
            </a:r>
          </a:p>
          <a:p>
            <a:pPr/>
            <a:r>
              <a:t>Examples include treatment vs control.</a:t>
            </a:r>
          </a:p>
          <a:p>
            <a:pPr/>
            <a:r>
              <a:t>Assumes independence.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Paired Sample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Same units measured twice.</a:t>
            </a:r>
          </a:p>
          <a:p>
            <a:pPr/>
            <a:r>
              <a:t>Controls for individual differences.</a:t>
            </a:r>
          </a:p>
          <a:p>
            <a:pPr/>
            <a:r>
              <a:t>Requires paired design.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t-Tests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for mean comparisons.</a:t>
            </a:r>
          </a:p>
          <a:p>
            <a:pPr/>
            <a:r>
              <a:t>Variants depend on design.</a:t>
            </a:r>
          </a:p>
          <a:p>
            <a:pPr/>
            <a:r>
              <a:t>Assume approximate normality.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for categorical data.</a:t>
            </a:r>
          </a:p>
          <a:p>
            <a:pPr/>
            <a:r>
              <a:t>Test independence or goodness of fit.</a:t>
            </a:r>
          </a:p>
          <a:p>
            <a:pPr/>
            <a:r>
              <a:t>Based on frequency counts.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Common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Independence.</a:t>
            </a:r>
          </a:p>
          <a:p>
            <a:pPr/>
            <a:r>
              <a:t>Distributional assumptions.</a:t>
            </a:r>
          </a:p>
          <a:p>
            <a:pPr/>
            <a:r>
              <a:t>Measurement scale.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Violating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Bias results.</a:t>
            </a:r>
          </a:p>
          <a:p>
            <a:pPr/>
            <a:r>
              <a:t>Invalid inference.</a:t>
            </a:r>
          </a:p>
          <a:p>
            <a:pPr/>
            <a:r>
              <a:t>Diagnostics are required.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Nonparametric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Used when assumptions fail.</a:t>
            </a:r>
          </a:p>
          <a:p>
            <a:pPr/>
            <a:r>
              <a:t>Based on ranks.</a:t>
            </a:r>
          </a:p>
          <a:p>
            <a:pPr/>
            <a:r>
              <a:t>Less sensitive to outliers.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 Size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Quantify magnitude of effects.</a:t>
            </a:r>
          </a:p>
          <a:p>
            <a:pPr/>
            <a:r>
              <a:t>Complement p-values.</a:t>
            </a:r>
          </a:p>
          <a:p>
            <a:pPr/>
            <a:r>
              <a:t>Support practical interpretation.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Testing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Many tests inflate false positives.</a:t>
            </a:r>
          </a:p>
          <a:p>
            <a:pPr/>
            <a:r>
              <a:t>Adjustments are needed.</a:t>
            </a:r>
          </a:p>
          <a:p>
            <a:pPr/>
            <a:r>
              <a:t>Exploration vs confirmation distinction.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Provide range of plausible values.</a:t>
            </a:r>
          </a:p>
          <a:p>
            <a:pPr/>
            <a:r>
              <a:t>Reflect uncertainty.</a:t>
            </a:r>
          </a:p>
          <a:p>
            <a:pPr/>
            <a:r>
              <a:t>Often more informative than p-values.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Linking Tests to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Tests often derived from models.</a:t>
            </a:r>
          </a:p>
          <a:p>
            <a:pPr/>
            <a:r>
              <a:t>Regression generalizes testing.</a:t>
            </a:r>
          </a:p>
          <a:p>
            <a:pPr/>
            <a:r>
              <a:t>Unified framework.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Statistical significance vs practical significance.</a:t>
            </a:r>
          </a:p>
          <a:p>
            <a:pPr/>
            <a:r>
              <a:t>Context matters.</a:t>
            </a:r>
          </a:p>
          <a:p>
            <a:pPr/>
            <a:r>
              <a:t>Decision relevance.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Test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use paired tests?</a:t>
            </a:r>
          </a:p>
          <a:p>
            <a:pPr/>
            <a:r>
              <a:t>Why report effect sizes?</a:t>
            </a:r>
          </a:p>
          <a:p>
            <a:pPr/>
            <a:r>
              <a:t>Why adjust for multiple testing?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Paired Binary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Outcomes have two categories.</a:t>
            </a:r>
          </a:p>
          <a:p>
            <a:pPr/>
            <a:r>
              <a:t>Observations are paired.</a:t>
            </a:r>
          </a:p>
          <a:p>
            <a:pPr/>
            <a:r>
              <a:t>Common in before/after studies.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McNemar’s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Tests changes in paired binary outcomes.</a:t>
            </a:r>
          </a:p>
          <a:p>
            <a:pPr/>
            <a:r>
              <a:t>Focuses on discordant pairs.</a:t>
            </a:r>
          </a:p>
          <a:p>
            <a:pPr/>
            <a:r>
              <a:t>Used in pre/post designs.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McNemar’s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Same subjects measured twice.</a:t>
            </a:r>
          </a:p>
          <a:p>
            <a:pPr/>
            <a:r>
              <a:t>Binary outcomes.</a:t>
            </a:r>
          </a:p>
          <a:p>
            <a:pPr/>
            <a:r>
              <a:t>Interest in change.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Contingency Table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2x2 table.</a:t>
            </a:r>
          </a:p>
          <a:p>
            <a:pPr/>
            <a:r>
              <a:t>Counts of agreement and disagreement.</a:t>
            </a:r>
          </a:p>
          <a:p>
            <a:pPr/>
            <a:r>
              <a:t>Only off-diagonal counts matter.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of McNemar’s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Tests symmetry of changes.</a:t>
            </a:r>
          </a:p>
          <a:p>
            <a:pPr/>
            <a:r>
              <a:t>Null: no change effect.</a:t>
            </a:r>
          </a:p>
          <a:p>
            <a:pPr/>
            <a:r>
              <a:t>Based on paired differences.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Intervention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Before vs after treatment.</a:t>
            </a:r>
          </a:p>
          <a:p>
            <a:pPr/>
            <a:r>
              <a:t>Success vs failure.</a:t>
            </a:r>
          </a:p>
          <a:p>
            <a:pPr/>
            <a:r>
              <a:t>Evaluate improvement.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of McNemar’s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Paired observations.</a:t>
            </a:r>
          </a:p>
          <a:p>
            <a:pPr/>
            <a:r>
              <a:t>Binary classification.</a:t>
            </a:r>
          </a:p>
          <a:p>
            <a:pPr/>
            <a:r>
              <a:t>Sufficient discordant pairs.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 vs Approximate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Exact test for small samples.</a:t>
            </a:r>
          </a:p>
          <a:p>
            <a:pPr/>
            <a:r>
              <a:t>Chi-square approximation for large samples.</a:t>
            </a:r>
          </a:p>
          <a:p>
            <a:pPr/>
            <a:r>
              <a:t>Choice affects accuracy.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Significant result indicates change.</a:t>
            </a:r>
          </a:p>
          <a:p>
            <a:pPr/>
            <a:r>
              <a:t>Does not measure size of change.</a:t>
            </a:r>
          </a:p>
          <a:p>
            <a:pPr/>
            <a:r>
              <a:t>Context is essential.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McNemar’s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are pairs important?</a:t>
            </a:r>
          </a:p>
          <a:p>
            <a:pPr/>
            <a:r>
              <a:t>What does McNemar test?</a:t>
            </a:r>
          </a:p>
          <a:p>
            <a:pPr/>
            <a:r>
              <a:t>When not to use it?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Experiment?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Researcher controls assignment.</a:t>
            </a:r>
          </a:p>
          <a:p>
            <a:pPr/>
            <a:r>
              <a:t>Randomization reduces bias.</a:t>
            </a:r>
          </a:p>
          <a:p>
            <a:pPr/>
            <a:r>
              <a:t>Supports causal inference.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and Control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Treatment receives intervention.</a:t>
            </a:r>
          </a:p>
          <a:p>
            <a:pPr/>
            <a:r>
              <a:t>Control provides comparison.</a:t>
            </a:r>
          </a:p>
          <a:p>
            <a:pPr/>
            <a:r>
              <a:t>Difference estimates effect.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Balances known and unknown factors.</a:t>
            </a:r>
          </a:p>
          <a:p>
            <a:pPr/>
            <a:r>
              <a:t>Reduces confounding.</a:t>
            </a:r>
          </a:p>
          <a:p>
            <a:pPr/>
            <a:r>
              <a:t>Foundation of experiments.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 and 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Control variability.</a:t>
            </a:r>
          </a:p>
          <a:p>
            <a:pPr/>
            <a:r>
              <a:t>Improve precision.</a:t>
            </a:r>
          </a:p>
          <a:p>
            <a:pPr/>
            <a:r>
              <a:t>Used in complex designs.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Pretest–Posttest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Measure outcomes before and after.</a:t>
            </a:r>
          </a:p>
          <a:p>
            <a:pPr/>
            <a:r>
              <a:t>Controls baseline differences.</a:t>
            </a:r>
          </a:p>
          <a:p>
            <a:pPr/>
            <a:r>
              <a:t>Supports paired analysis.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Between-Subjects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groups receive treatments.</a:t>
            </a:r>
          </a:p>
          <a:p>
            <a:pPr/>
            <a:r>
              <a:t>No pairing.</a:t>
            </a:r>
          </a:p>
          <a:p>
            <a:pPr/>
            <a:r>
              <a:t>Requires larger samples.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Within-Subjects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Same subjects receive multiple conditions.</a:t>
            </a:r>
          </a:p>
          <a:p>
            <a:pPr/>
            <a:r>
              <a:t>High power.</a:t>
            </a:r>
          </a:p>
          <a:p>
            <a:pPr/>
            <a:r>
              <a:t>Risk of carryover effects.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Common experimental form.</a:t>
            </a:r>
          </a:p>
          <a:p>
            <a:pPr/>
            <a:r>
              <a:t>Widely used in industry.</a:t>
            </a:r>
          </a:p>
          <a:p>
            <a:pPr/>
            <a:r>
              <a:t>Randomized comparison.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Quasi-Experiments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full randomization.</a:t>
            </a:r>
          </a:p>
          <a:p>
            <a:pPr/>
            <a:r>
              <a:t>Use natural variation.</a:t>
            </a:r>
          </a:p>
          <a:p>
            <a:pPr/>
            <a:r>
              <a:t>Require caution.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to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Selection bias.</a:t>
            </a:r>
          </a:p>
          <a:p>
            <a:pPr/>
            <a:r>
              <a:t>Attrition.</a:t>
            </a:r>
          </a:p>
          <a:p>
            <a:pPr/>
            <a:r>
              <a:t>Measurement error.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vs External Validity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Internal: causal credibility.</a:t>
            </a:r>
          </a:p>
          <a:p>
            <a:pPr/>
            <a:r>
              <a:t>External: generalizability.</a:t>
            </a:r>
          </a:p>
          <a:p>
            <a:pPr/>
            <a:r>
              <a:t>Trade-offs exist.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Consent.</a:t>
            </a:r>
          </a:p>
          <a:p>
            <a:pPr/>
            <a:r>
              <a:t>Risk minimization.</a:t>
            </a:r>
          </a:p>
          <a:p>
            <a:pPr/>
            <a:r>
              <a:t>Fair treatment.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Drives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 determines valid tests.</a:t>
            </a:r>
          </a:p>
          <a:p>
            <a:pPr/>
            <a:r>
              <a:t>Analysis cannot fix poor design.</a:t>
            </a:r>
          </a:p>
          <a:p>
            <a:pPr/>
            <a:r>
              <a:t>Plan before data collection.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Design to Test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Design informs hypothesis test.</a:t>
            </a:r>
          </a:p>
          <a:p>
            <a:pPr/>
            <a:r>
              <a:t>Paired vs independent.</a:t>
            </a:r>
          </a:p>
          <a:p>
            <a:pPr/>
            <a:r>
              <a:t>Binary vs continuous outcomes.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randomize?</a:t>
            </a:r>
          </a:p>
          <a:p>
            <a:pPr/>
            <a:r>
              <a:t>Difference between within and between designs?</a:t>
            </a:r>
          </a:p>
          <a:p>
            <a:pPr/>
            <a:r>
              <a:t>Why design precedes analysis?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Inference to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Tests validate model results.</a:t>
            </a:r>
          </a:p>
          <a:p>
            <a:pPr/>
            <a:r>
              <a:t>Inference supports credibility.</a:t>
            </a:r>
          </a:p>
          <a:p>
            <a:pPr/>
            <a:r>
              <a:t>Models generalize tests.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Inference to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Confirmed effects inform forecasts.</a:t>
            </a:r>
          </a:p>
          <a:p>
            <a:pPr/>
            <a:r>
              <a:t>Inference reduces uncertainty.</a:t>
            </a:r>
          </a:p>
          <a:p>
            <a:pPr/>
            <a:r>
              <a:t>Prediction relies on validity.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Testing without design awareness.</a:t>
            </a:r>
          </a:p>
          <a:p>
            <a:pPr/>
            <a:r>
              <a:t>Overreliance on p-values.</a:t>
            </a:r>
          </a:p>
          <a:p>
            <a:pPr/>
            <a:r>
              <a:t>Ignoring power.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Plan analysis in advance.</a:t>
            </a:r>
          </a:p>
          <a:p>
            <a:pPr/>
            <a:r>
              <a:t>Check assumptions.</a:t>
            </a:r>
          </a:p>
          <a:p>
            <a:pPr/>
            <a:r>
              <a:t>Report uncertainty transparently.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Communicating Inferential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Explain results clearly.</a:t>
            </a:r>
          </a:p>
          <a:p>
            <a:pPr/>
            <a:r>
              <a:t>Avoid statistical jargon.</a:t>
            </a:r>
          </a:p>
          <a:p>
            <a:pPr/>
            <a:r>
              <a:t>Focus on implications.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Judgment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Statistics informs decisions.</a:t>
            </a:r>
          </a:p>
          <a:p>
            <a:pPr/>
            <a:r>
              <a:t>Judgment interprets results.</a:t>
            </a:r>
          </a:p>
          <a:p>
            <a:pPr/>
            <a:r>
              <a:t>Context is essential.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Hypothesis testing evaluates evidence.</a:t>
            </a:r>
          </a:p>
          <a:p>
            <a:pPr/>
            <a:r>
              <a:t>Design enables inference.</a:t>
            </a:r>
          </a:p>
          <a:p>
            <a:pPr/>
            <a:r>
              <a:t>Correct placement strengthens analytics.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Module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Next: Predictive &amp; Prescriptive Analytics.</a:t>
            </a:r>
          </a:p>
          <a:p>
            <a:pPr/>
            <a:r>
              <a:t>From evidence to decisions.</a:t>
            </a:r>
          </a:p>
          <a:p>
            <a:pPr/>
            <a:r>
              <a:t>Analytics moves to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